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2" r:id="rId27"/>
    <p:sldId id="265" r:id="rId11"/>
    <p:sldId id="273" r:id="rId28"/>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JetBrains Mono" panose="02000009000000000000" pitchFamily="49" charset="0"/>
      <p:regular r:id="rId23"/>
      <p:bold r:id="rId24"/>
    </p:embeddedFont>
    <p:embeddedFont>
      <p:font typeface="Oswald" pitchFamily="3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slide" Target="slides/slide10.xml"/><Relationship Id="rId2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Keep it to one breath: Tubesense turns ordinary London Underground rides, recorded on a phone, into a section-by-section noise map, without GPS, and drafts a cited evidence pack that a human approves. Numbers are the repo on 25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TfL’s own number, not the press one. 87 dB is TfL’s in-cab LAeq on Liverpool Street to Bethnal Green, June 2024, FOI-1231-2425. 92.8 is a press report: always say “reported”, never “TfL data”. The 85 dB(A) line is the HSE upper exposure action value, shown for scale only; a section LAeq is not a daily personal exposure. Tubesense is not a safety system or a hearing-loss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cause is rail corrugation: ripples worn into the rail head. Grinding removes them, but they return; TfL itself says grinding is usually repeated every 6 months to a year. Both our sections were ground Dec 2021 to May 2022. The gap: nobody outside TfL can check whether the noise has come back, because section-level data is not published. Note: Tubesense does not measure corrugation. Our frequency-over-speed test failed (the roar peaks are fixed resonances). The only corrugation evidence we hold is TfL’s own 2018 roughness plots, read by Argon and pending a human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user: Elly Baker AM. This is paraphrased from Mayor’s Question 2026/2156, not a direct quote. Backups if asked: Hina Bokhari AM, Andrew Boff AM, Caroline Russell AM (Transport Committee chair), RMT and ASLEF reps. TfL’s own figures are measured in the cab, so drivers are the people most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The first four are sensing and run on the laptop: ingest phyphox and Voice Memos, sync with the knock, detect messy inputs, locate the train with the gyro, compute 1-second A-weighted levels. The last two are the agent: Argon reasons over TfL’s own records stored in Atlas, then a deterministic verifier and a human gate everything that goes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curve twists the phone the same way on every ride, so the gyroscope’s yaw rate is the most position-locked signal. Same-section correlation 0.76 to 0.99 against 0.20 for different sections. We match a new ride to a map of earlier rides with dynamic time warping in the distance domain, forcing speed to zero at both stops. The magnetometer was tested and does not help; we did not establish why (train-to-train differences and traction current are candidates). Prior art: Royal Holloway 2019 did station-level ID; we go between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pre-registered forward test. Maps frozen on 23 Oct, tracked on brand-new 24 Oct Central line rides: median 1.95 m on Liverpool Street to Bethnal Green against 8.2 m for a timetable guess, with 90% band coverage 0.96 over 6 sections. Live tracker, leave-one-run-out on 23 Oct: 2.2 m vs 11.2 m. Be upfront: between curves, with the gyro hidden, it is barely better than the timetable, 11 vs 16 m. Bars are drawn to scale, 60 px per 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World and DeepMind judges’ slide: honesty about uncertainty. The 24 Oct plan was written and frozen before the rides. Two GOs, four NO-GOs, one indicative measurement. The loudness NO-GO is close (10 of 11, +0.54 dB) but the rule said every trip, so it is a NO-GO. The NIOSH app is validated only up to about 85 dB(A), so those numbers are indicative. The corrugation method failed: the roar peaks stay at the same frequency as speed changes, so frequency over speed gives no wavelength. Corrugation as the cause stays untested by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DeepMind track’s verification loop. Argon proposes, a harness it cannot edit scores, the rule was written before the session: every section’s calibration must hold, not just the average. Six experiments, five rejected, including one with lower error that broke calibration on one section. One accepted, submitted and tagged before any 24 Oct ride existed. The one allowed score on 24 Oct rides: 1.8 m, coverage 0.94 vs 0.95 for v1. Say it plainly: it matched, it did not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track: all six scored features are live — Atlas Search, Automated Embedding with Voyage 4 (which also counts as Voyage AI), Vector Search, and Hybrid Search via $rankFusion. Stream Processing: a ride (replayed through the tracker now, or live from the phone) streams into ingest_live one row per second; an SP2 processor groups 10 s windows into live_view. The investigator, Gemini 4 Argon with long context, reads the whole corpus plus hybrid-search hits and returns typed claims with verbatim quotes. The verifier checks every quote against the stored source and every number against a quote, our stats or a formula. 25 Oct run: 15 claims, 5 rejected by the verifier and fixed; after independent review, 16 claims, all verified, 0 dropped, 4 information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That Ship: human approval and a clear record. The approval page needs every box, a name, and the claims must still pass the verifier. It writes a signed draft and an approvals record to Atlas. Status: the pack (16 verified claims) is ready; the approval happens live in the demo. Never fake an approval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World track scores reading messy inputs and responsibility. Every one of these was detected from the data and is listed in qc.json. On privacy: the levels we keep are coarser than the 125 ms third-octave frames that research found make speech almost unintelligible. Say the ICO line out loud in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look ahead, clearly labelled as a concept. The phone proved the idea works for positioning; the box is what a purpose-built instrument for the same pipeline could look like. One hardware clock across every sensor, an isolated industrial IMU, two I2S MEMS microphones, a fast barometer, mmWave radar for speed, and three magnetometer pods on a boom. Estimated £700–1,400 using an owned Pi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sensor to a limit we hit. Loudness was NO-GO partly because the Voice Memos limiter compresses the differences: calibrated MEMS mics fix that. The magnetometer showed no stable fingerprint, and we did not establish why: a three-pod array is an experiment to test whether it reduces the train-to-train spread (19 vs 22 µT), not a result. Corrugation ground truth has to come from TfL’s own roughness plots (FOI-1730-1819), which Argon has read; a floor-mounted sensor would also hear the car’s own resonances. The block diagram leaves room for a quantum IMU in the same position filter, the kind of sensor RQINS-style navigation trials use. Each part targets a limit we measured. None is tested. This is a concept,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this slide on the day. Move items from In progress to Working as they land, especially the investigator run and the first signed pack. Argon has read TfL’s 2018 roughness plots (FOI-1730-1819): one rough stretch at about 725–905 m, overlapping TfL’s own 720–880 m statement; pending a human check by eye. Station announcement labelling with gemini-3.5-transcribe is designed but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five-part line from the demo sheet, then the privacy line.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2E6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E9F1FF"/>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761"/>
            <a:ext cx="10566400" cy="3957439"/>
          </a:xfrm>
          <a:prstGeom prst="rect">
            <a:avLst/>
          </a:prstGeom>
          <a:noFill/>
          <a:ln/>
        </p:spPr>
        <p:txBody>
          <a:bodyPr wrap="square" lIns="0" tIns="0" rIns="0" bIns="0" rtlCol="0" anchor="t"/>
          <a:lstStyle>
            <a:lvl1pPr algn="l" indent="0" marL="0">
              <a:lnSpc>
                <a:spcPct val="140000"/>
              </a:lnSpc>
              <a:buNone/>
              <a:defRPr lang="en-US" sz="1600" dirty="0">
                <a:solidFill>
                  <a:srgbClr val="E9F1F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E9F1FF"/>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761"/>
            <a:ext cx="10566400" cy="3957439"/>
          </a:xfrm>
          <a:prstGeom prst="rect">
            <a:avLst/>
          </a:prstGeom>
          <a:noFill/>
          <a:ln/>
        </p:spPr>
        <p:txBody>
          <a:bodyPr wrap="square" lIns="0" tIns="0" rIns="0" bIns="0" rtlCol="0" anchor="t"/>
          <a:lstStyle>
            <a:lvl1pPr algn="l" indent="0" marL="0">
              <a:lnSpc>
                <a:spcPct val="140000"/>
              </a:lnSpc>
              <a:buNone/>
              <a:defRPr lang="en-US" sz="1600" dirty="0">
                <a:solidFill>
                  <a:srgbClr val="E9F1F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2E6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E9F1FF"/>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761"/>
            <a:ext cx="10566400" cy="3957439"/>
          </a:xfrm>
          <a:prstGeom prst="rect">
            <a:avLst/>
          </a:prstGeom>
          <a:noFill/>
          <a:ln/>
        </p:spPr>
        <p:txBody>
          <a:bodyPr wrap="square" lIns="0" tIns="0" rIns="0" bIns="0" rtlCol="0" anchor="t"/>
          <a:lstStyle>
            <a:lvl1pPr algn="l" indent="0" marL="0">
              <a:lnSpc>
                <a:spcPct val="140000"/>
              </a:lnSpc>
              <a:buNone/>
              <a:defRPr lang="en-US" sz="1600" dirty="0">
                <a:solidFill>
                  <a:srgbClr val="E9F1F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 Id="rId8"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A9C2EC"/>
                </a:solidFill>
                <a:latin typeface="JetBrains Mono" pitchFamily="49" charset="0"/>
                <a:ea typeface="JetBrains Mono" pitchFamily="49" charset="-122"/>
                <a:cs typeface="JetBrains Mono" pitchFamily="49" charset="-120"/>
              </a:rPr>
              <a:t>ENCODE LONDON 2026 · SOLO BUILD</a:t>
            </a:r>
            <a:endParaRPr lang="en-US" sz="1200" dirty="0"/>
          </a:p>
        </p:txBody>
      </p:sp>
      <p:sp>
        <p:nvSpPr>
          <p:cNvPr id="3" name="Text 1"/>
          <p:cNvSpPr/>
          <p:nvPr>
            <p:ph type="title"/>
          </p:nvPr>
        </p:nvSpPr>
        <p:spPr>
          <a:xfrm>
            <a:off x="812800" y="1992709"/>
            <a:ext cx="10883392" cy="1549400"/>
          </a:xfrm>
          <a:prstGeom prst="rect">
            <a:avLst/>
          </a:prstGeom>
          <a:noFill/>
          <a:ln/>
        </p:spPr>
        <p:txBody>
          <a:bodyPr wrap="square" lIns="0" tIns="0" rIns="0" bIns="0" rtlCol="0" anchor="t">
            <a:normAutofit/>
          </a:bodyPr>
          <a:lstStyle/>
          <a:p>
            <a:pPr algn="l" indent="0" marL="0">
              <a:lnSpc>
                <a:spcPts val="12000"/>
              </a:lnSpc>
              <a:buNone/>
            </a:pPr>
            <a:r>
              <a:rPr lang="en-US" sz="12000" b="1" i="0" spc="200" kern="0" dirty="0">
                <a:solidFill>
                  <a:srgbClr val="E9F1FF"/>
                </a:solidFill>
                <a:latin typeface="Oswald" pitchFamily="34" charset="0"/>
                <a:ea typeface="Oswald" pitchFamily="34" charset="-122"/>
                <a:cs typeface="Oswald" pitchFamily="34" charset="-120"/>
              </a:rPr>
              <a:t>TUBESENSE</a:t>
            </a:r>
            <a:endParaRPr lang="en-US" sz="12000" dirty="0"/>
          </a:p>
        </p:txBody>
      </p:sp>
      <p:pic>
        <p:nvPicPr>
          <p:cNvPr id="4" name="Image 0" descr="line">    </p:cNvPr>
          <p:cNvPicPr>
            <a:picLocks noChangeAspect="1"/>
          </p:cNvPicPr>
          <p:nvPr/>
        </p:nvPicPr>
        <p:blipFill>
          <a:blip r:embed="rId1"/>
          <a:srcRect l="0" r="0" t="0" b="0"/>
          <a:stretch/>
        </p:blipFill>
        <p:spPr>
          <a:xfrm>
            <a:off x="812800" y="3719909"/>
            <a:ext cx="6985000" cy="12700"/>
          </a:xfrm>
          <a:prstGeom prst="rect">
            <a:avLst/>
          </a:prstGeom>
        </p:spPr>
      </p:pic>
      <p:sp>
        <p:nvSpPr>
          <p:cNvPr id="5" name="Text 2"/>
          <p:cNvSpPr/>
          <p:nvPr/>
        </p:nvSpPr>
        <p:spPr>
          <a:xfrm>
            <a:off x="812800" y="3935809"/>
            <a:ext cx="85026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9F1FF"/>
                </a:solidFill>
                <a:latin typeface="IBM Plex Sans" pitchFamily="34" charset="0"/>
                <a:ea typeface="IBM Plex Sans" pitchFamily="34" charset="-122"/>
                <a:cs typeface="IBM Plex Sans" pitchFamily="34" charset="-120"/>
              </a:rPr>
              <a:t>Trains located between stations from ordinary phone rides, and a cited evidence pack. No GPS. Every claim checked. A human signs.</a:t>
            </a:r>
            <a:endParaRPr lang="en-US" sz="2200" dirty="0"/>
          </a:p>
        </p:txBody>
      </p:sp>
      <p:sp>
        <p:nvSpPr>
          <p:cNvPr id="6" name="Text 3"/>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C2EC"/>
                </a:solidFill>
                <a:latin typeface="JetBrains Mono" pitchFamily="49" charset="0"/>
                <a:ea typeface="JetBrains Mono" pitchFamily="49" charset="-122"/>
                <a:cs typeface="JetBrains Mono" pitchFamily="49" charset="-120"/>
              </a:rPr>
              <a:t>Tobi Ojebiyi · github.com/coderback</a:t>
            </a:r>
            <a:endParaRPr lang="en-US" sz="1200" dirty="0"/>
          </a:p>
        </p:txBody>
      </p:sp>
      <p:sp>
        <p:nvSpPr>
          <p:cNvPr id="7" name="Text 4"/>
          <p:cNvSpPr/>
          <p:nvPr/>
        </p:nvSpPr>
        <p:spPr>
          <a:xfrm>
            <a:off x="8591550" y="717550"/>
            <a:ext cx="2781300" cy="591741"/>
          </a:xfrm>
          <a:prstGeom prst="rect">
            <a:avLst/>
          </a:prstGeom>
          <a:noFill/>
          <a:ln w="12700">
            <a:solidFill>
              <a:srgbClr val="F2B33D"/>
            </a:solidFill>
            <a:prstDash val="solid"/>
          </a:ln>
        </p:spPr>
        <p:txBody>
          <a:bodyPr wrap="square" lIns="69469" tIns="82550" rIns="69469" bIns="57150" rtlCol="0" anchor="t">
            <a:normAutofit/>
          </a:bodyPr>
          <a:lstStyle/>
          <a:p>
            <a:pPr algn="ctr" indent="0" marL="0">
              <a:lnSpc>
                <a:spcPts val="1680"/>
              </a:lnSpc>
              <a:buNone/>
            </a:pPr>
            <a:r>
              <a:rPr lang="en-US" sz="1200" spc="150" kern="0" dirty="0">
                <a:solidFill>
                  <a:srgbClr val="F2B33D"/>
                </a:solidFill>
                <a:latin typeface="JetBrains Mono" pitchFamily="49" charset="0"/>
                <a:ea typeface="JetBrains Mono" pitchFamily="49" charset="-122"/>
                <a:cs typeface="JetBrains Mono" pitchFamily="49" charset="-120"/>
              </a:rPr>
              <a:t>SUBMISSION · 4 TRACKS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01 · THE PROBLEM</a:t>
            </a:r>
            <a:endParaRPr lang="en-US" sz="1200" dirty="0"/>
          </a:p>
        </p:txBody>
      </p:sp>
      <p:sp>
        <p:nvSpPr>
          <p:cNvPr id="3" name="Text 1"/>
          <p:cNvSpPr/>
          <p:nvPr>
            <p:ph type="title"/>
          </p:nvPr>
        </p:nvSpPr>
        <p:spPr>
          <a:xfrm>
            <a:off x="812800" y="1950740"/>
            <a:ext cx="6592824" cy="1930400"/>
          </a:xfrm>
          <a:prstGeom prst="rect">
            <a:avLst/>
          </a:prstGeom>
          <a:noFill/>
          <a:ln/>
        </p:spPr>
        <p:txBody>
          <a:bodyPr wrap="square" lIns="0" tIns="0" rIns="0" bIns="0" rtlCol="0" anchor="t">
            <a:normAutofit/>
          </a:bodyPr>
          <a:lstStyle/>
          <a:p>
            <a:pPr algn="l" indent="0" marL="0">
              <a:lnSpc>
                <a:spcPts val="15000"/>
              </a:lnSpc>
              <a:buNone/>
            </a:pPr>
            <a:r>
              <a:rPr lang="en-US" sz="15000" b="1" i="0" dirty="0">
                <a:solidFill>
                  <a:srgbClr val="F2B33D"/>
                </a:solidFill>
                <a:latin typeface="Oswald" pitchFamily="34" charset="0"/>
                <a:ea typeface="Oswald" pitchFamily="34" charset="-122"/>
                <a:cs typeface="Oswald" pitchFamily="34" charset="-120"/>
              </a:rPr>
              <a:t>87</a:t>
            </a:r>
            <a:r>
              <a:rPr lang="en-US" sz="15000" b="1" i="0" dirty="0">
                <a:solidFill>
                  <a:srgbClr val="E9F1FF"/>
                </a:solidFill>
                <a:latin typeface="Oswald" pitchFamily="34" charset="0"/>
                <a:ea typeface="Oswald" pitchFamily="34" charset="-122"/>
                <a:cs typeface="Oswald" pitchFamily="34" charset="-120"/>
              </a:rPr>
              <a:t> dB</a:t>
            </a:r>
            <a:endParaRPr lang="en-US" sz="15000" dirty="0"/>
          </a:p>
        </p:txBody>
      </p:sp>
      <p:sp>
        <p:nvSpPr>
          <p:cNvPr id="4" name="Text 2"/>
          <p:cNvSpPr/>
          <p:nvPr/>
        </p:nvSpPr>
        <p:spPr>
          <a:xfrm>
            <a:off x="812800" y="4008140"/>
            <a:ext cx="6592824"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9F1FF"/>
                </a:solidFill>
                <a:latin typeface="IBM Plex Sans" pitchFamily="34" charset="0"/>
                <a:ea typeface="IBM Plex Sans" pitchFamily="34" charset="-122"/>
                <a:cs typeface="IBM Plex Sans" pitchFamily="34" charset="-120"/>
              </a:rPr>
              <a:t>TfL’s own in-cab LAeq, Liverpool Street → Bethnal Green, Central line eastbound.</a:t>
            </a:r>
            <a:endParaRPr lang="en-US" sz="2200" dirty="0"/>
          </a:p>
        </p:txBody>
      </p:sp>
      <p:sp>
        <p:nvSpPr>
          <p:cNvPr id="5" name="Text 3"/>
          <p:cNvSpPr/>
          <p:nvPr/>
        </p:nvSpPr>
        <p:spPr>
          <a:xfrm>
            <a:off x="812800" y="4886821"/>
            <a:ext cx="659282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C2EC"/>
                </a:solidFill>
                <a:latin typeface="IBM Plex Sans" pitchFamily="34" charset="0"/>
                <a:ea typeface="IBM Plex Sans" pitchFamily="34" charset="-122"/>
                <a:cs typeface="IBM Plex Sans" pitchFamily="34" charset="-120"/>
              </a:rPr>
              <a:t>Measured 24 June 2024, released under FOI-1231-2425.</a:t>
            </a:r>
            <a:endParaRPr lang="en-US" sz="1600" dirty="0"/>
          </a:p>
        </p:txBody>
      </p:sp>
      <p:sp>
        <p:nvSpPr>
          <p:cNvPr id="6" name="Shape 4"/>
          <p:cNvSpPr/>
          <p:nvPr/>
        </p:nvSpPr>
        <p:spPr>
          <a:xfrm>
            <a:off x="7823200" y="1750120"/>
            <a:ext cx="3556000" cy="0"/>
          </a:xfrm>
          <a:prstGeom prst="line">
            <a:avLst/>
          </a:prstGeom>
          <a:noFill/>
          <a:ln w="12700">
            <a:solidFill>
              <a:srgbClr val="5E80BD"/>
            </a:solidFill>
            <a:prstDash val="solid"/>
          </a:ln>
        </p:spPr>
      </p:sp>
      <p:sp>
        <p:nvSpPr>
          <p:cNvPr id="7" name="Text 5"/>
          <p:cNvSpPr/>
          <p:nvPr/>
        </p:nvSpPr>
        <p:spPr>
          <a:xfrm>
            <a:off x="7823200" y="1959670"/>
            <a:ext cx="366268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9F1FF"/>
                </a:solidFill>
                <a:latin typeface="Oswald" pitchFamily="34" charset="0"/>
                <a:ea typeface="Oswald" pitchFamily="34" charset="-122"/>
                <a:cs typeface="Oswald" pitchFamily="34" charset="-120"/>
              </a:rPr>
              <a:t>83 dB</a:t>
            </a:r>
            <a:endParaRPr lang="en-US" sz="3600" dirty="0"/>
          </a:p>
        </p:txBody>
      </p:sp>
      <p:sp>
        <p:nvSpPr>
          <p:cNvPr id="8" name="Text 6"/>
          <p:cNvSpPr/>
          <p:nvPr/>
        </p:nvSpPr>
        <p:spPr>
          <a:xfrm>
            <a:off x="7823200" y="246767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Bethnal Green → Mile End, same TfL measurement</a:t>
            </a:r>
            <a:endParaRPr lang="en-US" sz="1200" dirty="0"/>
          </a:p>
        </p:txBody>
      </p:sp>
      <p:sp>
        <p:nvSpPr>
          <p:cNvPr id="9" name="Shape 7"/>
          <p:cNvSpPr/>
          <p:nvPr/>
        </p:nvSpPr>
        <p:spPr>
          <a:xfrm>
            <a:off x="7823200" y="2890540"/>
            <a:ext cx="3556000" cy="0"/>
          </a:xfrm>
          <a:prstGeom prst="line">
            <a:avLst/>
          </a:prstGeom>
          <a:noFill/>
          <a:ln w="12700">
            <a:solidFill>
              <a:srgbClr val="5E80BD"/>
            </a:solidFill>
            <a:prstDash val="solid"/>
          </a:ln>
        </p:spPr>
      </p:sp>
      <p:sp>
        <p:nvSpPr>
          <p:cNvPr id="10" name="Text 8"/>
          <p:cNvSpPr/>
          <p:nvPr/>
        </p:nvSpPr>
        <p:spPr>
          <a:xfrm>
            <a:off x="7823200" y="3100090"/>
            <a:ext cx="366268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9F1FF"/>
                </a:solidFill>
                <a:latin typeface="Oswald" pitchFamily="34" charset="0"/>
                <a:ea typeface="Oswald" pitchFamily="34" charset="-122"/>
                <a:cs typeface="Oswald" pitchFamily="34" charset="-120"/>
              </a:rPr>
              <a:t>85 dB(A)</a:t>
            </a:r>
            <a:endParaRPr lang="en-US" sz="3600" dirty="0"/>
          </a:p>
        </p:txBody>
      </p:sp>
      <p:sp>
        <p:nvSpPr>
          <p:cNvPr id="11" name="Text 9"/>
          <p:cNvSpPr/>
          <p:nvPr/>
        </p:nvSpPr>
        <p:spPr>
          <a:xfrm>
            <a:off x="7823200" y="360809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HSE upper exposure action value, for reference</a:t>
            </a:r>
            <a:endParaRPr lang="en-US" sz="1200" dirty="0"/>
          </a:p>
        </p:txBody>
      </p:sp>
      <p:sp>
        <p:nvSpPr>
          <p:cNvPr id="12" name="Shape 10"/>
          <p:cNvSpPr/>
          <p:nvPr/>
        </p:nvSpPr>
        <p:spPr>
          <a:xfrm>
            <a:off x="7823200" y="4030960"/>
            <a:ext cx="3556000" cy="0"/>
          </a:xfrm>
          <a:prstGeom prst="line">
            <a:avLst/>
          </a:prstGeom>
          <a:noFill/>
          <a:ln w="12700">
            <a:solidFill>
              <a:srgbClr val="5E80BD"/>
            </a:solidFill>
            <a:prstDash val="solid"/>
          </a:ln>
        </p:spPr>
      </p:sp>
      <p:sp>
        <p:nvSpPr>
          <p:cNvPr id="13" name="Text 11"/>
          <p:cNvSpPr/>
          <p:nvPr/>
        </p:nvSpPr>
        <p:spPr>
          <a:xfrm>
            <a:off x="7823200" y="4240510"/>
            <a:ext cx="366268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9F1FF"/>
                </a:solidFill>
                <a:latin typeface="Oswald" pitchFamily="34" charset="0"/>
                <a:ea typeface="Oswald" pitchFamily="34" charset="-122"/>
                <a:cs typeface="Oswald" pitchFamily="34" charset="-120"/>
              </a:rPr>
              <a:t>92.8 dB</a:t>
            </a:r>
            <a:endParaRPr lang="en-US" sz="3600" dirty="0"/>
          </a:p>
        </p:txBody>
      </p:sp>
      <p:sp>
        <p:nvSpPr>
          <p:cNvPr id="14" name="Text 12"/>
          <p:cNvSpPr/>
          <p:nvPr/>
        </p:nvSpPr>
        <p:spPr>
          <a:xfrm>
            <a:off x="7823200" y="474851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Reported in the press, Jan 2026. Primary source not located</a:t>
            </a:r>
            <a:endParaRPr lang="en-US" sz="1200" dirty="0"/>
          </a:p>
        </p:txBody>
      </p:sp>
      <p:sp>
        <p:nvSpPr>
          <p:cNvPr id="15" name="Text 1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Sources: TfL FOI-1231-2425 · Brixton Buzz, 27 Jan 2026 (secondary)</a:t>
            </a:r>
            <a:endParaRPr lang="en-US" sz="1200" dirty="0"/>
          </a:p>
        </p:txBody>
      </p:sp>
      <p:sp>
        <p:nvSpPr>
          <p:cNvPr id="16"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F4C95"/>
                </a:solidFill>
                <a:latin typeface="JetBrains Mono" pitchFamily="49" charset="0"/>
                <a:ea typeface="JetBrains Mono" pitchFamily="49" charset="-122"/>
                <a:cs typeface="JetBrains Mono" pitchFamily="49" charset="-120"/>
              </a:rPr>
              <a:t>02 · WHY IT KEEPS COMING BACK</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E68"/>
                </a:solidFill>
                <a:latin typeface="Oswald" pitchFamily="34" charset="0"/>
                <a:ea typeface="Oswald" pitchFamily="34" charset="-122"/>
                <a:cs typeface="Oswald" pitchFamily="34" charset="-120"/>
              </a:rPr>
              <a:t>TFL: CORRUGATION COMES BACK AFTER GRINDING</a:t>
            </a:r>
            <a:endParaRPr lang="en-US" sz="3600" dirty="0"/>
          </a:p>
        </p:txBody>
      </p:sp>
      <p:pic>
        <p:nvPicPr>
          <p:cNvPr id="4" name="Image 0" descr="Schematic of a rail head with periodic ripples worn into its surface">    </p:cNvPr>
          <p:cNvPicPr>
            <a:picLocks noChangeAspect="1"/>
          </p:cNvPicPr>
          <p:nvPr/>
        </p:nvPicPr>
        <p:blipFill>
          <a:blip r:embed="rId1"/>
          <a:srcRect l="-104" r="-104" t="0" b="0"/>
          <a:stretch/>
        </p:blipFill>
        <p:spPr>
          <a:xfrm>
            <a:off x="812800" y="2036961"/>
            <a:ext cx="10566400" cy="762000"/>
          </a:xfrm>
          <a:prstGeom prst="rect">
            <a:avLst/>
          </a:prstGeom>
        </p:spPr>
      </p:pic>
      <p:sp>
        <p:nvSpPr>
          <p:cNvPr id="5" name="Shape 2"/>
          <p:cNvSpPr/>
          <p:nvPr/>
        </p:nvSpPr>
        <p:spPr>
          <a:xfrm>
            <a:off x="812800" y="3052961"/>
            <a:ext cx="3386634" cy="2789039"/>
          </a:xfrm>
          <a:prstGeom prst="rect">
            <a:avLst/>
          </a:prstGeom>
          <a:solidFill>
            <a:srgbClr val="FBFCFE"/>
          </a:solidFill>
          <a:ln/>
        </p:spPr>
      </p:sp>
      <p:sp>
        <p:nvSpPr>
          <p:cNvPr id="6" name="Shape 3"/>
          <p:cNvSpPr/>
          <p:nvPr/>
        </p:nvSpPr>
        <p:spPr>
          <a:xfrm>
            <a:off x="812800" y="3072011"/>
            <a:ext cx="3386634" cy="0"/>
          </a:xfrm>
          <a:prstGeom prst="line">
            <a:avLst/>
          </a:prstGeom>
          <a:noFill/>
          <a:ln w="38100">
            <a:solidFill>
              <a:srgbClr val="1F4C95"/>
            </a:solidFill>
            <a:prstDash val="solid"/>
          </a:ln>
        </p:spPr>
      </p:sp>
      <p:sp>
        <p:nvSpPr>
          <p:cNvPr id="7" name="Text 4"/>
          <p:cNvSpPr/>
          <p:nvPr/>
        </p:nvSpPr>
        <p:spPr>
          <a:xfrm>
            <a:off x="1066800" y="3345061"/>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Dec 2021 – May 2022</a:t>
            </a:r>
            <a:endParaRPr lang="en-US" sz="1200" dirty="0"/>
          </a:p>
        </p:txBody>
      </p:sp>
      <p:sp>
        <p:nvSpPr>
          <p:cNvPr id="8" name="Text 5"/>
          <p:cNvSpPr/>
          <p:nvPr/>
        </p:nvSpPr>
        <p:spPr>
          <a:xfrm>
            <a:off x="1066800" y="3659981"/>
            <a:ext cx="2964993"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0E2E68"/>
                </a:solidFill>
                <a:latin typeface="IBM Plex Sans" pitchFamily="34" charset="0"/>
                <a:ea typeface="IBM Plex Sans" pitchFamily="34" charset="-122"/>
                <a:cs typeface="IBM Plex Sans" pitchFamily="34" charset="-120"/>
              </a:rPr>
              <a:t>Both sections were ground for noise (direction not stated).</a:t>
            </a:r>
            <a:endParaRPr lang="en-US" sz="1600" dirty="0"/>
          </a:p>
        </p:txBody>
      </p:sp>
      <p:sp>
        <p:nvSpPr>
          <p:cNvPr id="9" name="Text 6"/>
          <p:cNvSpPr/>
          <p:nvPr/>
        </p:nvSpPr>
        <p:spPr>
          <a:xfrm>
            <a:off x="1066800" y="4310063"/>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Mayor’s Question 2022/1791</a:t>
            </a:r>
            <a:endParaRPr lang="en-US" sz="1200" dirty="0"/>
          </a:p>
        </p:txBody>
      </p:sp>
      <p:sp>
        <p:nvSpPr>
          <p:cNvPr id="10" name="Shape 7"/>
          <p:cNvSpPr/>
          <p:nvPr/>
        </p:nvSpPr>
        <p:spPr>
          <a:xfrm>
            <a:off x="4402634" y="3052961"/>
            <a:ext cx="3386733" cy="2789039"/>
          </a:xfrm>
          <a:prstGeom prst="rect">
            <a:avLst/>
          </a:prstGeom>
          <a:solidFill>
            <a:srgbClr val="FBFCFE"/>
          </a:solidFill>
          <a:ln/>
        </p:spPr>
      </p:sp>
      <p:sp>
        <p:nvSpPr>
          <p:cNvPr id="11" name="Shape 8"/>
          <p:cNvSpPr/>
          <p:nvPr/>
        </p:nvSpPr>
        <p:spPr>
          <a:xfrm>
            <a:off x="4402634" y="3072011"/>
            <a:ext cx="3386733" cy="0"/>
          </a:xfrm>
          <a:prstGeom prst="line">
            <a:avLst/>
          </a:prstGeom>
          <a:noFill/>
          <a:ln w="38100">
            <a:solidFill>
              <a:srgbClr val="1F4C95"/>
            </a:solidFill>
            <a:prstDash val="solid"/>
          </a:ln>
        </p:spPr>
      </p:sp>
      <p:sp>
        <p:nvSpPr>
          <p:cNvPr id="12" name="Text 9"/>
          <p:cNvSpPr/>
          <p:nvPr/>
        </p:nvSpPr>
        <p:spPr>
          <a:xfrm>
            <a:off x="4656634" y="3345061"/>
            <a:ext cx="296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Every 6–12 months</a:t>
            </a:r>
            <a:endParaRPr lang="en-US" sz="1200" dirty="0"/>
          </a:p>
        </p:txBody>
      </p:sp>
      <p:sp>
        <p:nvSpPr>
          <p:cNvPr id="13" name="Text 10"/>
          <p:cNvSpPr/>
          <p:nvPr/>
        </p:nvSpPr>
        <p:spPr>
          <a:xfrm>
            <a:off x="4656634" y="3659981"/>
            <a:ext cx="2965095"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0E2E68"/>
                </a:solidFill>
                <a:latin typeface="IBM Plex Sans" pitchFamily="34" charset="0"/>
                <a:ea typeface="IBM Plex Sans" pitchFamily="34" charset="-122"/>
                <a:cs typeface="IBM Plex Sans" pitchFamily="34" charset="-120"/>
              </a:rPr>
              <a:t>TfL says grinding must be repeated, “usually 6 months – a year”.</a:t>
            </a:r>
            <a:endParaRPr lang="en-US" sz="1600" dirty="0"/>
          </a:p>
        </p:txBody>
      </p:sp>
      <p:sp>
        <p:nvSpPr>
          <p:cNvPr id="14" name="Text 11"/>
          <p:cNvSpPr/>
          <p:nvPr/>
        </p:nvSpPr>
        <p:spPr>
          <a:xfrm>
            <a:off x="4656634" y="4584303"/>
            <a:ext cx="296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TfL Tube Noise presentation, 6 Dec 2022</a:t>
            </a:r>
            <a:endParaRPr lang="en-US" sz="1200" dirty="0"/>
          </a:p>
        </p:txBody>
      </p:sp>
      <p:sp>
        <p:nvSpPr>
          <p:cNvPr id="15" name="Shape 12"/>
          <p:cNvSpPr/>
          <p:nvPr/>
        </p:nvSpPr>
        <p:spPr>
          <a:xfrm>
            <a:off x="7992566" y="3052961"/>
            <a:ext cx="3386634" cy="2789039"/>
          </a:xfrm>
          <a:prstGeom prst="rect">
            <a:avLst/>
          </a:prstGeom>
          <a:solidFill>
            <a:srgbClr val="FBFCFE"/>
          </a:solidFill>
          <a:ln/>
        </p:spPr>
      </p:sp>
      <p:sp>
        <p:nvSpPr>
          <p:cNvPr id="16" name="Shape 13"/>
          <p:cNvSpPr/>
          <p:nvPr/>
        </p:nvSpPr>
        <p:spPr>
          <a:xfrm>
            <a:off x="7992566" y="3072011"/>
            <a:ext cx="3386634" cy="0"/>
          </a:xfrm>
          <a:prstGeom prst="line">
            <a:avLst/>
          </a:prstGeom>
          <a:noFill/>
          <a:ln w="38100">
            <a:solidFill>
              <a:srgbClr val="F2B33D"/>
            </a:solidFill>
            <a:prstDash val="solid"/>
          </a:ln>
        </p:spPr>
      </p:sp>
      <p:sp>
        <p:nvSpPr>
          <p:cNvPr id="17" name="Text 14"/>
          <p:cNvSpPr/>
          <p:nvPr/>
        </p:nvSpPr>
        <p:spPr>
          <a:xfrm>
            <a:off x="8246566" y="3345061"/>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16 Jul 2026</a:t>
            </a:r>
            <a:endParaRPr lang="en-US" sz="1200" dirty="0"/>
          </a:p>
        </p:txBody>
      </p:sp>
      <p:sp>
        <p:nvSpPr>
          <p:cNvPr id="18" name="Text 15"/>
          <p:cNvSpPr/>
          <p:nvPr/>
        </p:nvSpPr>
        <p:spPr>
          <a:xfrm>
            <a:off x="8246566" y="3659981"/>
            <a:ext cx="2964993"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0E2E68"/>
                </a:solidFill>
                <a:latin typeface="IBM Plex Sans" pitchFamily="34" charset="0"/>
                <a:ea typeface="IBM Plex Sans" pitchFamily="34" charset="-122"/>
                <a:cs typeface="IBM Plex Sans" pitchFamily="34" charset="-120"/>
              </a:rPr>
              <a:t>TfL turned down most of Elly Baker AM’s data requests.</a:t>
            </a:r>
            <a:endParaRPr lang="en-US" sz="1600" dirty="0"/>
          </a:p>
        </p:txBody>
      </p:sp>
      <p:sp>
        <p:nvSpPr>
          <p:cNvPr id="19" name="Text 16"/>
          <p:cNvSpPr/>
          <p:nvPr/>
        </p:nvSpPr>
        <p:spPr>
          <a:xfrm>
            <a:off x="8246566" y="4584303"/>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Mayor’s Question Time 2026/2156</a:t>
            </a:r>
            <a:endParaRPr lang="en-US" sz="1200" dirty="0"/>
          </a:p>
        </p:txBody>
      </p:sp>
      <p:sp>
        <p:nvSpPr>
          <p:cNvPr id="20"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Schematic, not to scale: corrugation = periodic ripples worn into the rail head</a:t>
            </a:r>
            <a:endParaRPr lang="en-US" sz="1200" dirty="0"/>
          </a:p>
        </p:txBody>
      </p:sp>
      <p:sp>
        <p:nvSpPr>
          <p:cNvPr id="21"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03 · WHO IT’S FOR</a:t>
            </a:r>
            <a:endParaRPr lang="en-US" sz="1200" dirty="0"/>
          </a:p>
        </p:txBody>
      </p:sp>
      <p:sp>
        <p:nvSpPr>
          <p:cNvPr id="3" name="Text 1"/>
          <p:cNvSpPr/>
          <p:nvPr>
            <p:ph type="title"/>
          </p:nvPr>
        </p:nvSpPr>
        <p:spPr>
          <a:xfrm>
            <a:off x="812800" y="1280120"/>
            <a:ext cx="6069584"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E9F1FF"/>
                </a:solidFill>
                <a:latin typeface="Oswald" pitchFamily="34" charset="0"/>
                <a:ea typeface="Oswald" pitchFamily="34" charset="-122"/>
                <a:cs typeface="Oswald" pitchFamily="34" charset="-120"/>
              </a:rPr>
              <a:t>ELLY BAKER AM</a:t>
            </a:r>
            <a:endParaRPr lang="en-US" sz="6000" dirty="0"/>
          </a:p>
        </p:txBody>
      </p:sp>
      <p:sp>
        <p:nvSpPr>
          <p:cNvPr id="4" name="Text 2"/>
          <p:cNvSpPr/>
          <p:nvPr/>
        </p:nvSpPr>
        <p:spPr>
          <a:xfrm>
            <a:off x="812800" y="2245320"/>
            <a:ext cx="606958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C2EC"/>
                </a:solidFill>
                <a:latin typeface="IBM Plex Sans" pitchFamily="34" charset="0"/>
                <a:ea typeface="IBM Plex Sans" pitchFamily="34" charset="-122"/>
                <a:cs typeface="IBM Plex Sans" pitchFamily="34" charset="-120"/>
              </a:rPr>
              <a:t>Labour transport spokesperson · Deputy Chair, London Assembly Transport Committee</a:t>
            </a:r>
            <a:endParaRPr lang="en-US" sz="1600" dirty="0"/>
          </a:p>
        </p:txBody>
      </p:sp>
      <p:sp>
        <p:nvSpPr>
          <p:cNvPr id="5" name="Shape 3"/>
          <p:cNvSpPr/>
          <p:nvPr/>
        </p:nvSpPr>
        <p:spPr>
          <a:xfrm>
            <a:off x="831850" y="3017441"/>
            <a:ext cx="0" cy="954980"/>
          </a:xfrm>
          <a:prstGeom prst="line">
            <a:avLst/>
          </a:prstGeom>
          <a:noFill/>
          <a:ln w="38100">
            <a:solidFill>
              <a:srgbClr val="F2B33D"/>
            </a:solidFill>
            <a:prstDash val="solid"/>
          </a:ln>
        </p:spPr>
      </p:sp>
      <p:sp>
        <p:nvSpPr>
          <p:cNvPr id="6" name="Text 4"/>
          <p:cNvSpPr/>
          <p:nvPr/>
        </p:nvSpPr>
        <p:spPr>
          <a:xfrm>
            <a:off x="1054100" y="3068241"/>
            <a:ext cx="582104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F1FF"/>
                </a:solidFill>
                <a:latin typeface="IBM Plex Sans" pitchFamily="34" charset="0"/>
                <a:ea typeface="IBM Plex Sans" pitchFamily="34" charset="-122"/>
                <a:cs typeface="IBM Plex Sans" pitchFamily="34" charset="-120"/>
              </a:rPr>
              <a:t>At Mayor’s Question Time on 16 July 2026 she said TfL had turned down most of her requests for noise data, and plans grinding only eight weeks ahead.</a:t>
            </a:r>
            <a:endParaRPr lang="en-US" sz="1600" dirty="0"/>
          </a:p>
        </p:txBody>
      </p:sp>
      <p:sp>
        <p:nvSpPr>
          <p:cNvPr id="7" name="Text 5"/>
          <p:cNvSpPr/>
          <p:nvPr/>
        </p:nvSpPr>
        <p:spPr>
          <a:xfrm>
            <a:off x="7315200" y="12801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C2EC"/>
                </a:solidFill>
                <a:latin typeface="JetBrains Mono" pitchFamily="49" charset="0"/>
                <a:ea typeface="JetBrains Mono" pitchFamily="49" charset="-122"/>
                <a:cs typeface="JetBrains Mono" pitchFamily="49" charset="-120"/>
              </a:rPr>
              <a:t>WHAT SHE NEEDS</a:t>
            </a:r>
            <a:endParaRPr lang="en-US" sz="1200" dirty="0"/>
          </a:p>
        </p:txBody>
      </p:sp>
      <p:sp>
        <p:nvSpPr>
          <p:cNvPr id="8" name="Shape 6"/>
          <p:cNvSpPr/>
          <p:nvPr/>
        </p:nvSpPr>
        <p:spPr>
          <a:xfrm>
            <a:off x="7315200" y="1652191"/>
            <a:ext cx="4064000" cy="0"/>
          </a:xfrm>
          <a:prstGeom prst="line">
            <a:avLst/>
          </a:prstGeom>
          <a:noFill/>
          <a:ln w="12700">
            <a:solidFill>
              <a:srgbClr val="5E80BD"/>
            </a:solidFill>
            <a:prstDash val="solid"/>
          </a:ln>
        </p:spPr>
      </p:sp>
      <p:sp>
        <p:nvSpPr>
          <p:cNvPr id="9" name="Text 7"/>
          <p:cNvSpPr/>
          <p:nvPr/>
        </p:nvSpPr>
        <p:spPr>
          <a:xfrm>
            <a:off x="7315200" y="1810941"/>
            <a:ext cx="145752" cy="573881"/>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F2B33D"/>
                </a:solidFill>
                <a:latin typeface="Oswald" pitchFamily="34" charset="0"/>
                <a:ea typeface="Oswald" pitchFamily="34" charset="-122"/>
                <a:cs typeface="Oswald" pitchFamily="34" charset="-120"/>
              </a:rPr>
              <a:t>1</a:t>
            </a:r>
            <a:endParaRPr lang="en-US" sz="2200" dirty="0"/>
          </a:p>
        </p:txBody>
      </p:sp>
      <p:sp>
        <p:nvSpPr>
          <p:cNvPr id="10" name="Text 8"/>
          <p:cNvSpPr/>
          <p:nvPr/>
        </p:nvSpPr>
        <p:spPr>
          <a:xfrm>
            <a:off x="7562552" y="1810941"/>
            <a:ext cx="3931147"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F1FF"/>
                </a:solidFill>
                <a:latin typeface="IBM Plex Sans" pitchFamily="34" charset="0"/>
                <a:ea typeface="IBM Plex Sans" pitchFamily="34" charset="-122"/>
                <a:cs typeface="IBM Plex Sans" pitchFamily="34" charset="-120"/>
              </a:rPr>
              <a:t>Phone measurements placed between stations, without GPS</a:t>
            </a:r>
            <a:endParaRPr lang="en-US" sz="1600" dirty="0"/>
          </a:p>
        </p:txBody>
      </p:sp>
      <p:sp>
        <p:nvSpPr>
          <p:cNvPr id="11" name="Shape 9"/>
          <p:cNvSpPr/>
          <p:nvPr/>
        </p:nvSpPr>
        <p:spPr>
          <a:xfrm>
            <a:off x="7315200" y="2670572"/>
            <a:ext cx="4064000" cy="0"/>
          </a:xfrm>
          <a:prstGeom prst="line">
            <a:avLst/>
          </a:prstGeom>
          <a:noFill/>
          <a:ln w="12700">
            <a:solidFill>
              <a:srgbClr val="5E80BD"/>
            </a:solidFill>
            <a:prstDash val="solid"/>
          </a:ln>
        </p:spPr>
      </p:sp>
      <p:sp>
        <p:nvSpPr>
          <p:cNvPr id="12" name="Text 10"/>
          <p:cNvSpPr/>
          <p:nvPr/>
        </p:nvSpPr>
        <p:spPr>
          <a:xfrm>
            <a:off x="7315200" y="2829322"/>
            <a:ext cx="140097" cy="573881"/>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F2B33D"/>
                </a:solidFill>
                <a:latin typeface="Oswald" pitchFamily="34" charset="0"/>
                <a:ea typeface="Oswald" pitchFamily="34" charset="-122"/>
                <a:cs typeface="Oswald" pitchFamily="34" charset="-120"/>
              </a:rPr>
              <a:t>2</a:t>
            </a:r>
            <a:endParaRPr lang="en-US" sz="2200" dirty="0"/>
          </a:p>
        </p:txBody>
      </p:sp>
      <p:sp>
        <p:nvSpPr>
          <p:cNvPr id="13" name="Text 11"/>
          <p:cNvSpPr/>
          <p:nvPr/>
        </p:nvSpPr>
        <p:spPr>
          <a:xfrm>
            <a:off x="7556897" y="2829322"/>
            <a:ext cx="3936972"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F1FF"/>
                </a:solidFill>
                <a:latin typeface="IBM Plex Sans" pitchFamily="34" charset="0"/>
                <a:ea typeface="IBM Plex Sans" pitchFamily="34" charset="-122"/>
                <a:cs typeface="IBM Plex Sans" pitchFamily="34" charset="-120"/>
              </a:rPr>
              <a:t>A cited pack that says what the record does and does not show</a:t>
            </a:r>
            <a:endParaRPr lang="en-US" sz="1600" dirty="0"/>
          </a:p>
        </p:txBody>
      </p:sp>
      <p:sp>
        <p:nvSpPr>
          <p:cNvPr id="14" name="Shape 12"/>
          <p:cNvSpPr/>
          <p:nvPr/>
        </p:nvSpPr>
        <p:spPr>
          <a:xfrm>
            <a:off x="7315200" y="3688953"/>
            <a:ext cx="4064000" cy="0"/>
          </a:xfrm>
          <a:prstGeom prst="line">
            <a:avLst/>
          </a:prstGeom>
          <a:noFill/>
          <a:ln w="12700">
            <a:solidFill>
              <a:srgbClr val="5E80BD"/>
            </a:solidFill>
            <a:prstDash val="solid"/>
          </a:ln>
        </p:spPr>
      </p:sp>
      <p:sp>
        <p:nvSpPr>
          <p:cNvPr id="15" name="Text 13"/>
          <p:cNvSpPr/>
          <p:nvPr/>
        </p:nvSpPr>
        <p:spPr>
          <a:xfrm>
            <a:off x="7315200" y="3847703"/>
            <a:ext cx="170160" cy="573881"/>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F2B33D"/>
                </a:solidFill>
                <a:latin typeface="Oswald" pitchFamily="34" charset="0"/>
                <a:ea typeface="Oswald" pitchFamily="34" charset="-122"/>
                <a:cs typeface="Oswald" pitchFamily="34" charset="-120"/>
              </a:rPr>
              <a:t>3</a:t>
            </a:r>
            <a:endParaRPr lang="en-US" sz="2200" dirty="0"/>
          </a:p>
        </p:txBody>
      </p:sp>
      <p:sp>
        <p:nvSpPr>
          <p:cNvPr id="16" name="Text 14"/>
          <p:cNvSpPr/>
          <p:nvPr/>
        </p:nvSpPr>
        <p:spPr>
          <a:xfrm>
            <a:off x="7586960" y="3847703"/>
            <a:ext cx="3906007"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F1FF"/>
                </a:solidFill>
                <a:latin typeface="IBM Plex Sans" pitchFamily="34" charset="0"/>
                <a:ea typeface="IBM Plex Sans" pitchFamily="34" charset="-122"/>
                <a:cs typeface="IBM Plex Sans" pitchFamily="34" charset="-120"/>
              </a:rPr>
              <a:t>The precise information requests to make next</a:t>
            </a:r>
            <a:endParaRPr lang="en-US" sz="1600" dirty="0"/>
          </a:p>
        </p:txBody>
      </p:sp>
      <p:sp>
        <p:nvSpPr>
          <p:cNvPr id="17" name="Text 15"/>
          <p:cNvSpPr/>
          <p:nvPr/>
        </p:nvSpPr>
        <p:spPr>
          <a:xfrm>
            <a:off x="812800" y="6238280"/>
            <a:ext cx="9753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Ultimately for those exposed longest: train drivers and their unions (RMT, ASLEF) · MQT 2026/2156</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F4C95"/>
                </a:solidFill>
                <a:latin typeface="JetBrains Mono" pitchFamily="49" charset="0"/>
                <a:ea typeface="JetBrains Mono" pitchFamily="49" charset="-122"/>
                <a:cs typeface="JetBrains Mono" pitchFamily="49" charset="-120"/>
              </a:rPr>
              <a:t>04 · HOW IT WORKS</a:t>
            </a:r>
            <a:endParaRPr lang="en-US" sz="1200" dirty="0"/>
          </a:p>
        </p:txBody>
      </p:sp>
      <p:sp>
        <p:nvSpPr>
          <p:cNvPr id="3" name="Text 1"/>
          <p:cNvSpPr/>
          <p:nvPr>
            <p:ph type="title"/>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E68"/>
                </a:solidFill>
                <a:latin typeface="Oswald" pitchFamily="34" charset="0"/>
                <a:ea typeface="Oswald" pitchFamily="34" charset="-122"/>
                <a:cs typeface="Oswald" pitchFamily="34" charset="-120"/>
              </a:rPr>
              <a:t>ONE RIDE IN, A SIGNED DRAFT OUT</a:t>
            </a:r>
            <a:endParaRPr lang="en-US" sz="3600" dirty="0"/>
          </a:p>
        </p:txBody>
      </p:sp>
      <p:sp>
        <p:nvSpPr>
          <p:cNvPr id="4" name="Shape 2"/>
          <p:cNvSpPr/>
          <p:nvPr/>
        </p:nvSpPr>
        <p:spPr>
          <a:xfrm>
            <a:off x="812800" y="2138561"/>
            <a:ext cx="1676400" cy="3703439"/>
          </a:xfrm>
          <a:prstGeom prst="rect">
            <a:avLst/>
          </a:prstGeom>
          <a:solidFill>
            <a:srgbClr val="FBFCFE"/>
          </a:solidFill>
          <a:ln/>
        </p:spPr>
      </p:sp>
      <p:sp>
        <p:nvSpPr>
          <p:cNvPr id="5" name="Shape 3"/>
          <p:cNvSpPr/>
          <p:nvPr/>
        </p:nvSpPr>
        <p:spPr>
          <a:xfrm>
            <a:off x="812800" y="2157611"/>
            <a:ext cx="1676400" cy="0"/>
          </a:xfrm>
          <a:prstGeom prst="line">
            <a:avLst/>
          </a:prstGeom>
          <a:noFill/>
          <a:ln w="38100">
            <a:solidFill>
              <a:srgbClr val="1F4C95"/>
            </a:solidFill>
            <a:prstDash val="solid"/>
          </a:ln>
        </p:spPr>
      </p:sp>
      <p:sp>
        <p:nvSpPr>
          <p:cNvPr id="6" name="Text 4"/>
          <p:cNvSpPr/>
          <p:nvPr/>
        </p:nvSpPr>
        <p:spPr>
          <a:xfrm>
            <a:off x="965200" y="2379861"/>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965200" y="2694781"/>
            <a:ext cx="1422400" cy="248841"/>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0E2E68"/>
                </a:solidFill>
                <a:latin typeface="Oswald" pitchFamily="34" charset="0"/>
                <a:ea typeface="Oswald" pitchFamily="34" charset="-122"/>
                <a:cs typeface="Oswald" pitchFamily="34" charset="-120"/>
              </a:rPr>
              <a:t>RIDE</a:t>
            </a:r>
            <a:endParaRPr lang="en-US" sz="1600" dirty="0"/>
          </a:p>
        </p:txBody>
      </p:sp>
      <p:sp>
        <p:nvSpPr>
          <p:cNvPr id="8" name="Text 6"/>
          <p:cNvSpPr/>
          <p:nvPr/>
        </p:nvSpPr>
        <p:spPr>
          <a:xfrm>
            <a:off x="965200" y="3019822"/>
            <a:ext cx="1422400" cy="130532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A phone on a seat: accelerometer, gyro, magnetometer, barometer, audio.</a:t>
            </a:r>
            <a:endParaRPr lang="en-US" sz="1200" dirty="0"/>
          </a:p>
        </p:txBody>
      </p:sp>
      <p:sp>
        <p:nvSpPr>
          <p:cNvPr id="9" name="Shape 7"/>
          <p:cNvSpPr/>
          <p:nvPr/>
        </p:nvSpPr>
        <p:spPr>
          <a:xfrm>
            <a:off x="2590800" y="2138561"/>
            <a:ext cx="1676400" cy="3703439"/>
          </a:xfrm>
          <a:prstGeom prst="rect">
            <a:avLst/>
          </a:prstGeom>
          <a:solidFill>
            <a:srgbClr val="FBFCFE"/>
          </a:solidFill>
          <a:ln/>
        </p:spPr>
      </p:sp>
      <p:sp>
        <p:nvSpPr>
          <p:cNvPr id="10" name="Shape 8"/>
          <p:cNvSpPr/>
          <p:nvPr/>
        </p:nvSpPr>
        <p:spPr>
          <a:xfrm>
            <a:off x="2590800" y="2157611"/>
            <a:ext cx="1676400" cy="0"/>
          </a:xfrm>
          <a:prstGeom prst="line">
            <a:avLst/>
          </a:prstGeom>
          <a:noFill/>
          <a:ln w="38100">
            <a:solidFill>
              <a:srgbClr val="1F4C95"/>
            </a:solidFill>
            <a:prstDash val="solid"/>
          </a:ln>
        </p:spPr>
      </p:sp>
      <p:sp>
        <p:nvSpPr>
          <p:cNvPr id="11" name="Text 9"/>
          <p:cNvSpPr/>
          <p:nvPr/>
        </p:nvSpPr>
        <p:spPr>
          <a:xfrm>
            <a:off x="2743200" y="2379861"/>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02</a:t>
            </a:r>
            <a:endParaRPr lang="en-US" sz="1200" dirty="0"/>
          </a:p>
        </p:txBody>
      </p:sp>
      <p:sp>
        <p:nvSpPr>
          <p:cNvPr id="12" name="Text 10"/>
          <p:cNvSpPr/>
          <p:nvPr/>
        </p:nvSpPr>
        <p:spPr>
          <a:xfrm>
            <a:off x="2743200" y="2694781"/>
            <a:ext cx="1422400" cy="248841"/>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0E2E68"/>
                </a:solidFill>
                <a:latin typeface="Oswald" pitchFamily="34" charset="0"/>
                <a:ea typeface="Oswald" pitchFamily="34" charset="-122"/>
                <a:cs typeface="Oswald" pitchFamily="34" charset="-120"/>
              </a:rPr>
              <a:t>CLEAN</a:t>
            </a:r>
            <a:endParaRPr lang="en-US" sz="1600" dirty="0"/>
          </a:p>
        </p:txBody>
      </p:sp>
      <p:sp>
        <p:nvSpPr>
          <p:cNvPr id="13" name="Text 11"/>
          <p:cNvSpPr/>
          <p:nvPr/>
        </p:nvSpPr>
        <p:spPr>
          <a:xfrm>
            <a:off x="2743200" y="3019822"/>
            <a:ext cx="1422400" cy="118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Sync, pauses, a phone on the floor, split runs: flagged from the data.</a:t>
            </a:r>
            <a:endParaRPr lang="en-US" sz="1200" dirty="0"/>
          </a:p>
        </p:txBody>
      </p:sp>
      <p:sp>
        <p:nvSpPr>
          <p:cNvPr id="14" name="Shape 12"/>
          <p:cNvSpPr/>
          <p:nvPr/>
        </p:nvSpPr>
        <p:spPr>
          <a:xfrm>
            <a:off x="4368800" y="2138561"/>
            <a:ext cx="1676400" cy="3703439"/>
          </a:xfrm>
          <a:prstGeom prst="rect">
            <a:avLst/>
          </a:prstGeom>
          <a:solidFill>
            <a:srgbClr val="FBFCFE"/>
          </a:solidFill>
          <a:ln/>
        </p:spPr>
      </p:sp>
      <p:sp>
        <p:nvSpPr>
          <p:cNvPr id="15" name="Shape 13"/>
          <p:cNvSpPr/>
          <p:nvPr/>
        </p:nvSpPr>
        <p:spPr>
          <a:xfrm>
            <a:off x="4368800" y="2157611"/>
            <a:ext cx="1676400" cy="0"/>
          </a:xfrm>
          <a:prstGeom prst="line">
            <a:avLst/>
          </a:prstGeom>
          <a:noFill/>
          <a:ln w="38100">
            <a:solidFill>
              <a:srgbClr val="1F4C95"/>
            </a:solidFill>
            <a:prstDash val="solid"/>
          </a:ln>
        </p:spPr>
      </p:sp>
      <p:sp>
        <p:nvSpPr>
          <p:cNvPr id="16" name="Text 14"/>
          <p:cNvSpPr/>
          <p:nvPr/>
        </p:nvSpPr>
        <p:spPr>
          <a:xfrm>
            <a:off x="4521200" y="2379861"/>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03</a:t>
            </a:r>
            <a:endParaRPr lang="en-US" sz="1200" dirty="0"/>
          </a:p>
        </p:txBody>
      </p:sp>
      <p:sp>
        <p:nvSpPr>
          <p:cNvPr id="17" name="Text 15"/>
          <p:cNvSpPr/>
          <p:nvPr/>
        </p:nvSpPr>
        <p:spPr>
          <a:xfrm>
            <a:off x="4521200" y="2694781"/>
            <a:ext cx="1422400" cy="248841"/>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0E2E68"/>
                </a:solidFill>
                <a:latin typeface="Oswald" pitchFamily="34" charset="0"/>
                <a:ea typeface="Oswald" pitchFamily="34" charset="-122"/>
                <a:cs typeface="Oswald" pitchFamily="34" charset="-120"/>
              </a:rPr>
              <a:t>LOCATE</a:t>
            </a:r>
            <a:endParaRPr lang="en-US" sz="1600" dirty="0"/>
          </a:p>
        </p:txBody>
      </p:sp>
      <p:sp>
        <p:nvSpPr>
          <p:cNvPr id="18" name="Text 16"/>
          <p:cNvSpPr/>
          <p:nvPr/>
        </p:nvSpPr>
        <p:spPr>
          <a:xfrm>
            <a:off x="4521200" y="3019822"/>
            <a:ext cx="1422400" cy="118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Curve signatures place the train between stations. No GPS.</a:t>
            </a:r>
            <a:endParaRPr lang="en-US" sz="1200" dirty="0"/>
          </a:p>
        </p:txBody>
      </p:sp>
      <p:sp>
        <p:nvSpPr>
          <p:cNvPr id="19" name="Shape 17"/>
          <p:cNvSpPr/>
          <p:nvPr/>
        </p:nvSpPr>
        <p:spPr>
          <a:xfrm>
            <a:off x="6146800" y="2138561"/>
            <a:ext cx="1676400" cy="3703439"/>
          </a:xfrm>
          <a:prstGeom prst="rect">
            <a:avLst/>
          </a:prstGeom>
          <a:solidFill>
            <a:srgbClr val="FBFCFE"/>
          </a:solidFill>
          <a:ln/>
        </p:spPr>
      </p:sp>
      <p:sp>
        <p:nvSpPr>
          <p:cNvPr id="20" name="Shape 18"/>
          <p:cNvSpPr/>
          <p:nvPr/>
        </p:nvSpPr>
        <p:spPr>
          <a:xfrm>
            <a:off x="6146800" y="2157611"/>
            <a:ext cx="1676400" cy="0"/>
          </a:xfrm>
          <a:prstGeom prst="line">
            <a:avLst/>
          </a:prstGeom>
          <a:noFill/>
          <a:ln w="38100">
            <a:solidFill>
              <a:srgbClr val="1F4C95"/>
            </a:solidFill>
            <a:prstDash val="solid"/>
          </a:ln>
        </p:spPr>
      </p:sp>
      <p:sp>
        <p:nvSpPr>
          <p:cNvPr id="21" name="Text 19"/>
          <p:cNvSpPr/>
          <p:nvPr/>
        </p:nvSpPr>
        <p:spPr>
          <a:xfrm>
            <a:off x="6299200" y="2379861"/>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04</a:t>
            </a:r>
            <a:endParaRPr lang="en-US" sz="1200" dirty="0"/>
          </a:p>
        </p:txBody>
      </p:sp>
      <p:sp>
        <p:nvSpPr>
          <p:cNvPr id="22" name="Text 20"/>
          <p:cNvSpPr/>
          <p:nvPr/>
        </p:nvSpPr>
        <p:spPr>
          <a:xfrm>
            <a:off x="6299200" y="2694781"/>
            <a:ext cx="1422400" cy="248841"/>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0E2E68"/>
                </a:solidFill>
                <a:latin typeface="Oswald" pitchFamily="34" charset="0"/>
                <a:ea typeface="Oswald" pitchFamily="34" charset="-122"/>
                <a:cs typeface="Oswald" pitchFamily="34" charset="-120"/>
              </a:rPr>
              <a:t>MEASURE</a:t>
            </a:r>
            <a:endParaRPr lang="en-US" sz="1600" dirty="0"/>
          </a:p>
        </p:txBody>
      </p:sp>
      <p:sp>
        <p:nvSpPr>
          <p:cNvPr id="23" name="Text 21"/>
          <p:cNvSpPr/>
          <p:nvPr/>
        </p:nvSpPr>
        <p:spPr>
          <a:xfrm>
            <a:off x="6299200" y="3019822"/>
            <a:ext cx="1422400" cy="118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1-second A-weighted levels and bands. Raw audio never leaves the laptop.</a:t>
            </a:r>
            <a:endParaRPr lang="en-US" sz="1200" dirty="0"/>
          </a:p>
        </p:txBody>
      </p:sp>
      <p:sp>
        <p:nvSpPr>
          <p:cNvPr id="24" name="Shape 22"/>
          <p:cNvSpPr/>
          <p:nvPr/>
        </p:nvSpPr>
        <p:spPr>
          <a:xfrm>
            <a:off x="7924800" y="2138561"/>
            <a:ext cx="1676400" cy="3703439"/>
          </a:xfrm>
          <a:prstGeom prst="rect">
            <a:avLst/>
          </a:prstGeom>
          <a:solidFill>
            <a:srgbClr val="FBFCFE"/>
          </a:solidFill>
          <a:ln/>
        </p:spPr>
      </p:sp>
      <p:sp>
        <p:nvSpPr>
          <p:cNvPr id="25" name="Shape 23"/>
          <p:cNvSpPr/>
          <p:nvPr/>
        </p:nvSpPr>
        <p:spPr>
          <a:xfrm>
            <a:off x="7924800" y="2157611"/>
            <a:ext cx="1676400" cy="0"/>
          </a:xfrm>
          <a:prstGeom prst="line">
            <a:avLst/>
          </a:prstGeom>
          <a:noFill/>
          <a:ln w="38100">
            <a:solidFill>
              <a:srgbClr val="F2B33D"/>
            </a:solidFill>
            <a:prstDash val="solid"/>
          </a:ln>
        </p:spPr>
      </p:sp>
      <p:sp>
        <p:nvSpPr>
          <p:cNvPr id="26" name="Text 24"/>
          <p:cNvSpPr/>
          <p:nvPr/>
        </p:nvSpPr>
        <p:spPr>
          <a:xfrm>
            <a:off x="8077200" y="2379861"/>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05</a:t>
            </a:r>
            <a:endParaRPr lang="en-US" sz="1200" dirty="0"/>
          </a:p>
        </p:txBody>
      </p:sp>
      <p:sp>
        <p:nvSpPr>
          <p:cNvPr id="27" name="Text 25"/>
          <p:cNvSpPr/>
          <p:nvPr/>
        </p:nvSpPr>
        <p:spPr>
          <a:xfrm>
            <a:off x="8077200" y="2694781"/>
            <a:ext cx="1422400" cy="248841"/>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0E2E68"/>
                </a:solidFill>
                <a:latin typeface="Oswald" pitchFamily="34" charset="0"/>
                <a:ea typeface="Oswald" pitchFamily="34" charset="-122"/>
                <a:cs typeface="Oswald" pitchFamily="34" charset="-120"/>
              </a:rPr>
              <a:t>INVESTIGATE</a:t>
            </a:r>
            <a:endParaRPr lang="en-US" sz="1600" dirty="0"/>
          </a:p>
        </p:txBody>
      </p:sp>
      <p:sp>
        <p:nvSpPr>
          <p:cNvPr id="28" name="Text 26"/>
          <p:cNvSpPr/>
          <p:nvPr/>
        </p:nvSpPr>
        <p:spPr>
          <a:xfrm>
            <a:off x="8077200" y="3019822"/>
            <a:ext cx="1422400"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Gemini 4 Argon reads TfL and Assembly records from MongoDB Atlas.</a:t>
            </a:r>
            <a:endParaRPr lang="en-US" sz="1200" dirty="0"/>
          </a:p>
        </p:txBody>
      </p:sp>
      <p:sp>
        <p:nvSpPr>
          <p:cNvPr id="29" name="Shape 27"/>
          <p:cNvSpPr/>
          <p:nvPr/>
        </p:nvSpPr>
        <p:spPr>
          <a:xfrm>
            <a:off x="9702800" y="2138561"/>
            <a:ext cx="1676400" cy="3703439"/>
          </a:xfrm>
          <a:prstGeom prst="rect">
            <a:avLst/>
          </a:prstGeom>
          <a:solidFill>
            <a:srgbClr val="FBFCFE"/>
          </a:solidFill>
          <a:ln/>
        </p:spPr>
      </p:sp>
      <p:sp>
        <p:nvSpPr>
          <p:cNvPr id="30" name="Shape 28"/>
          <p:cNvSpPr/>
          <p:nvPr/>
        </p:nvSpPr>
        <p:spPr>
          <a:xfrm>
            <a:off x="9702800" y="2157611"/>
            <a:ext cx="1676400" cy="0"/>
          </a:xfrm>
          <a:prstGeom prst="line">
            <a:avLst/>
          </a:prstGeom>
          <a:noFill/>
          <a:ln w="38100">
            <a:solidFill>
              <a:srgbClr val="F2B33D"/>
            </a:solidFill>
            <a:prstDash val="solid"/>
          </a:ln>
        </p:spPr>
      </p:sp>
      <p:sp>
        <p:nvSpPr>
          <p:cNvPr id="31" name="Text 29"/>
          <p:cNvSpPr/>
          <p:nvPr/>
        </p:nvSpPr>
        <p:spPr>
          <a:xfrm>
            <a:off x="9855200" y="2379861"/>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C95"/>
                </a:solidFill>
                <a:latin typeface="JetBrains Mono" pitchFamily="49" charset="0"/>
                <a:ea typeface="JetBrains Mono" pitchFamily="49" charset="-122"/>
                <a:cs typeface="JetBrains Mono" pitchFamily="49" charset="-120"/>
              </a:rPr>
              <a:t>06</a:t>
            </a:r>
            <a:endParaRPr lang="en-US" sz="1200" dirty="0"/>
          </a:p>
        </p:txBody>
      </p:sp>
      <p:sp>
        <p:nvSpPr>
          <p:cNvPr id="32" name="Text 30"/>
          <p:cNvSpPr/>
          <p:nvPr/>
        </p:nvSpPr>
        <p:spPr>
          <a:xfrm>
            <a:off x="9855200" y="2694781"/>
            <a:ext cx="1422400" cy="248841"/>
          </a:xfrm>
          <a:prstGeom prst="rect">
            <a:avLst/>
          </a:prstGeom>
          <a:noFill/>
          <a:ln/>
        </p:spPr>
        <p:txBody>
          <a:bodyPr wrap="square" lIns="0" tIns="0" rIns="0" bIns="0" rtlCol="0" anchor="t">
            <a:normAutofit/>
          </a:bodyPr>
          <a:lstStyle/>
          <a:p>
            <a:pPr algn="l" indent="0" marL="0">
              <a:lnSpc>
                <a:spcPts val="1760"/>
              </a:lnSpc>
              <a:buNone/>
            </a:pPr>
            <a:r>
              <a:rPr lang="en-US" sz="1600" b="1" dirty="0">
                <a:solidFill>
                  <a:srgbClr val="0E2E68"/>
                </a:solidFill>
                <a:latin typeface="Oswald" pitchFamily="34" charset="0"/>
                <a:ea typeface="Oswald" pitchFamily="34" charset="-122"/>
                <a:cs typeface="Oswald" pitchFamily="34" charset="-120"/>
              </a:rPr>
              <a:t>APPROVE</a:t>
            </a:r>
            <a:endParaRPr lang="en-US" sz="1600" dirty="0"/>
          </a:p>
        </p:txBody>
      </p:sp>
      <p:sp>
        <p:nvSpPr>
          <p:cNvPr id="33" name="Text 31"/>
          <p:cNvSpPr/>
          <p:nvPr/>
        </p:nvSpPr>
        <p:spPr>
          <a:xfrm>
            <a:off x="9855200" y="3019822"/>
            <a:ext cx="1422400" cy="118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Code checks every quote and number. A human signs the draft.</a:t>
            </a:r>
            <a:endParaRPr lang="en-US" sz="1200" dirty="0"/>
          </a:p>
        </p:txBody>
      </p:sp>
      <p:sp>
        <p:nvSpPr>
          <p:cNvPr id="34" name="Text 3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Sensing 01–04 runs locally · Agent 05–06: Gemini 4 Argon + MongoDB Atlas</a:t>
            </a:r>
            <a:endParaRPr lang="en-US" sz="1200" dirty="0"/>
          </a:p>
        </p:txBody>
      </p:sp>
      <p:sp>
        <p:nvSpPr>
          <p:cNvPr id="35" name="Text 3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05 · FINDING THE TRAIN WITHOUT GPS</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9F1FF"/>
                </a:solidFill>
                <a:latin typeface="Oswald" pitchFamily="34" charset="0"/>
                <a:ea typeface="Oswald" pitchFamily="34" charset="-122"/>
                <a:cs typeface="Oswald" pitchFamily="34" charset="-120"/>
              </a:rPr>
              <a:t>EVERY CURVE IS A FINGERPRINT</a:t>
            </a:r>
            <a:endParaRPr lang="en-US" sz="3600" dirty="0"/>
          </a:p>
        </p:txBody>
      </p:sp>
      <p:sp>
        <p:nvSpPr>
          <p:cNvPr id="9" name="Shape 6"/>
          <p:cNvSpPr/>
          <p:nvPr/>
        </p:nvSpPr>
        <p:spPr>
          <a:xfrm>
            <a:off x="812800" y="3948311"/>
            <a:ext cx="3251200" cy="0"/>
          </a:xfrm>
          <a:prstGeom prst="line">
            <a:avLst/>
          </a:prstGeom>
          <a:noFill/>
          <a:ln w="12700">
            <a:solidFill>
              <a:srgbClr val="5E80BD"/>
            </a:solidFill>
            <a:prstDash val="solid"/>
          </a:ln>
        </p:spPr>
      </p:sp>
      <p:sp>
        <p:nvSpPr>
          <p:cNvPr id="10" name="Text 7"/>
          <p:cNvSpPr/>
          <p:nvPr/>
        </p:nvSpPr>
        <p:spPr>
          <a:xfrm>
            <a:off x="812800" y="4107061"/>
            <a:ext cx="33487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B33D"/>
                </a:solidFill>
                <a:latin typeface="Oswald" pitchFamily="34" charset="0"/>
                <a:ea typeface="Oswald" pitchFamily="34" charset="-122"/>
                <a:cs typeface="Oswald" pitchFamily="34" charset="-120"/>
              </a:rPr>
              <a:t>r 0.76–0.99</a:t>
            </a:r>
            <a:endParaRPr lang="en-US" sz="3600" dirty="0"/>
          </a:p>
        </p:txBody>
      </p:sp>
      <p:sp>
        <p:nvSpPr>
          <p:cNvPr id="11" name="Text 8"/>
          <p:cNvSpPr/>
          <p:nvPr/>
        </p:nvSpPr>
        <p:spPr>
          <a:xfrm>
            <a:off x="812800" y="4640461"/>
            <a:ext cx="33487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Gyro yaw traces of the same section, ride to ride (Central, 23 Oct). Different sections: 0.20.</a:t>
            </a:r>
            <a:endParaRPr lang="en-US" sz="1200" dirty="0"/>
          </a:p>
        </p:txBody>
      </p:sp>
      <p:sp>
        <p:nvSpPr>
          <p:cNvPr id="12" name="Shape 9"/>
          <p:cNvSpPr/>
          <p:nvPr/>
        </p:nvSpPr>
        <p:spPr>
          <a:xfrm>
            <a:off x="4470400" y="3948311"/>
            <a:ext cx="3251200" cy="0"/>
          </a:xfrm>
          <a:prstGeom prst="line">
            <a:avLst/>
          </a:prstGeom>
          <a:noFill/>
          <a:ln w="12700">
            <a:solidFill>
              <a:srgbClr val="5E80BD"/>
            </a:solidFill>
            <a:prstDash val="solid"/>
          </a:ln>
        </p:spPr>
      </p:sp>
      <p:sp>
        <p:nvSpPr>
          <p:cNvPr id="13" name="Text 10"/>
          <p:cNvSpPr/>
          <p:nvPr/>
        </p:nvSpPr>
        <p:spPr>
          <a:xfrm>
            <a:off x="4470400" y="4107061"/>
            <a:ext cx="33487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9F1FF"/>
                </a:solidFill>
                <a:latin typeface="Oswald" pitchFamily="34" charset="0"/>
                <a:ea typeface="Oswald" pitchFamily="34" charset="-122"/>
                <a:cs typeface="Oswald" pitchFamily="34" charset="-120"/>
              </a:rPr>
              <a:t>DTW</a:t>
            </a:r>
            <a:endParaRPr lang="en-US" sz="3600" dirty="0"/>
          </a:p>
        </p:txBody>
      </p:sp>
      <p:sp>
        <p:nvSpPr>
          <p:cNvPr id="14" name="Text 11"/>
          <p:cNvSpPr/>
          <p:nvPr/>
        </p:nvSpPr>
        <p:spPr>
          <a:xfrm>
            <a:off x="4470400" y="4640461"/>
            <a:ext cx="33487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Matches a new ride to a map of earlier rides in distance, not time, between two stops.</a:t>
            </a:r>
            <a:endParaRPr lang="en-US" sz="1200" dirty="0"/>
          </a:p>
        </p:txBody>
      </p:sp>
      <p:sp>
        <p:nvSpPr>
          <p:cNvPr id="15" name="Shape 12"/>
          <p:cNvSpPr/>
          <p:nvPr/>
        </p:nvSpPr>
        <p:spPr>
          <a:xfrm>
            <a:off x="8128000" y="3948311"/>
            <a:ext cx="3251200" cy="0"/>
          </a:xfrm>
          <a:prstGeom prst="line">
            <a:avLst/>
          </a:prstGeom>
          <a:noFill/>
          <a:ln w="12700">
            <a:solidFill>
              <a:srgbClr val="5E80BD"/>
            </a:solidFill>
            <a:prstDash val="solid"/>
          </a:ln>
        </p:spPr>
      </p:sp>
      <p:sp>
        <p:nvSpPr>
          <p:cNvPr id="16" name="Text 13"/>
          <p:cNvSpPr/>
          <p:nvPr/>
        </p:nvSpPr>
        <p:spPr>
          <a:xfrm>
            <a:off x="8128000" y="4107061"/>
            <a:ext cx="33487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E9F1FF"/>
                </a:solidFill>
                <a:latin typeface="Oswald" pitchFamily="34" charset="0"/>
                <a:ea typeface="Oswald" pitchFamily="34" charset="-122"/>
                <a:cs typeface="Oswald" pitchFamily="34" charset="-120"/>
              </a:rPr>
              <a:t>Gyro wins</a:t>
            </a:r>
            <a:endParaRPr lang="en-US" sz="3600" dirty="0"/>
          </a:p>
        </p:txBody>
      </p:sp>
      <p:sp>
        <p:nvSpPr>
          <p:cNvPr id="17" name="Text 14"/>
          <p:cNvSpPr/>
          <p:nvPr/>
        </p:nvSpPr>
        <p:spPr>
          <a:xfrm>
            <a:off x="8128000" y="4640461"/>
            <a:ext cx="33487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Ablation: the magnetometer adds nothing to positioning (NO-GO as a fingerprint).</a:t>
            </a:r>
            <a:endParaRPr lang="en-US" sz="1200" dirty="0"/>
          </a:p>
        </p:txBody>
      </p:sp>
      <p:sp>
        <p:nvSpPr>
          <p:cNvPr id="18" name="Text 1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Real data: outputs/gonogo/gyro_EB_LST-BTH.png · outputs/FINDINGS.md (a), (b), (e)</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06</a:t>
            </a:r>
            <a:endParaRPr lang="en-US" sz="1200" dirty="0"/>
          </a:p>
        </p:txBody>
      </p:sp>
      <p:pic>
        <p:nvPicPr>
          <p:cNvPr id="20" name="Picture 19" descr="gyro_crop.png"/>
          <p:cNvPicPr>
            <a:picLocks noChangeAspect="1"/>
          </p:cNvPicPr>
          <p:nvPr/>
        </p:nvPicPr>
        <p:blipFill>
          <a:blip r:embed="rId4"/>
          <a:stretch>
            <a:fillRect/>
          </a:stretch>
        </p:blipFill>
        <p:spPr>
          <a:xfrm>
            <a:off x="813816" y="1993392"/>
            <a:ext cx="7004957" cy="1783080"/>
          </a:xfrm>
          <a:prstGeom prst="rect">
            <a:avLst/>
          </a:prstGeom>
        </p:spPr>
      </p:pic>
      <p:sp>
        <p:nvSpPr>
          <p:cNvPr id="21" name="TextBox 20"/>
          <p:cNvSpPr txBox="1"/>
          <p:nvPr/>
        </p:nvSpPr>
        <p:spPr>
          <a:xfrm>
            <a:off x="8229600" y="2057400"/>
            <a:ext cx="3154680" cy="320040"/>
          </a:xfrm>
          <a:prstGeom prst="rect">
            <a:avLst/>
          </a:prstGeom>
          <a:noFill/>
        </p:spPr>
        <p:txBody>
          <a:bodyPr wrap="square" anchor="t" lIns="0" rIns="0" tIns="0" bIns="0">
            <a:spAutoFit/>
          </a:bodyPr>
          <a:lstStyle/>
          <a:p>
            <a:pPr algn="l"/>
            <a:r>
              <a:rPr sz="1300" b="0">
                <a:solidFill>
                  <a:srgbClr val="F2B33D"/>
                </a:solidFill>
                <a:latin typeface="JetBrains Mono"/>
              </a:rPr>
              <a:t>REAL DATA, 6 RIDES</a:t>
            </a:r>
          </a:p>
        </p:txBody>
      </p:sp>
      <p:sp>
        <p:nvSpPr>
          <p:cNvPr id="22" name="TextBox 21"/>
          <p:cNvSpPr txBox="1"/>
          <p:nvPr/>
        </p:nvSpPr>
        <p:spPr>
          <a:xfrm>
            <a:off x="8229600" y="2423160"/>
            <a:ext cx="3154680" cy="1371600"/>
          </a:xfrm>
          <a:prstGeom prst="rect">
            <a:avLst/>
          </a:prstGeom>
          <a:noFill/>
        </p:spPr>
        <p:txBody>
          <a:bodyPr wrap="square" anchor="t" lIns="0" rIns="0" tIns="0" bIns="0">
            <a:spAutoFit/>
          </a:bodyPr>
          <a:lstStyle/>
          <a:p>
            <a:pPr algn="l"/>
            <a:r>
              <a:rPr sz="1300" b="0">
                <a:solidFill>
                  <a:srgbClr val="E9F1FF"/>
                </a:solidFill>
                <a:latin typeface="IBM Plex Sans"/>
              </a:rPr>
              <a:t>Gyro yaw rate along Liverpool St → Bethnal Green. The same curves arrive in the same order on every ride: that repeat is the fingerprint the tracker matches.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F4C95"/>
                </a:solidFill>
                <a:latin typeface="JetBrains Mono" pitchFamily="49" charset="0"/>
                <a:ea typeface="JetBrains Mono" pitchFamily="49" charset="-122"/>
                <a:cs typeface="JetBrains Mono" pitchFamily="49" charset="-120"/>
              </a:rPr>
              <a:t>06 · RESULTS SO FAR</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E68"/>
                </a:solidFill>
                <a:latin typeface="Oswald" pitchFamily="34" charset="0"/>
                <a:ea typeface="Oswald" pitchFamily="34" charset="-122"/>
                <a:cs typeface="Oswald" pitchFamily="34" charset="-120"/>
              </a:rPr>
              <a:t>METRES, NOT STATIONS</a:t>
            </a:r>
            <a:endParaRPr lang="en-US" sz="3600" dirty="0"/>
          </a:p>
        </p:txBody>
      </p:sp>
      <p:sp>
        <p:nvSpPr>
          <p:cNvPr id="4" name="Text 2"/>
          <p:cNvSpPr/>
          <p:nvPr/>
        </p:nvSpPr>
        <p:spPr>
          <a:xfrm>
            <a:off x="812800" y="2036961"/>
            <a:ext cx="812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median error</a:t>
            </a:r>
            <a:endParaRPr lang="en-US" sz="1200" dirty="0"/>
          </a:p>
        </p:txBody>
      </p:sp>
      <p:sp>
        <p:nvSpPr>
          <p:cNvPr id="5" name="Shape 3"/>
          <p:cNvSpPr/>
          <p:nvPr/>
        </p:nvSpPr>
        <p:spPr>
          <a:xfrm>
            <a:off x="1727200" y="2174081"/>
            <a:ext cx="152400" cy="152400"/>
          </a:xfrm>
          <a:prstGeom prst="rect">
            <a:avLst/>
          </a:prstGeom>
          <a:solidFill>
            <a:srgbClr val="1F4C95"/>
          </a:solidFill>
          <a:ln/>
        </p:spPr>
      </p:sp>
      <p:sp>
        <p:nvSpPr>
          <p:cNvPr id="6" name="Text 4"/>
          <p:cNvSpPr/>
          <p:nvPr/>
        </p:nvSpPr>
        <p:spPr>
          <a:xfrm>
            <a:off x="2032000" y="2143621"/>
            <a:ext cx="8886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2E68"/>
                </a:solidFill>
                <a:latin typeface="IBM Plex Sans" pitchFamily="34" charset="0"/>
                <a:ea typeface="IBM Plex Sans" pitchFamily="34" charset="-122"/>
                <a:cs typeface="IBM Plex Sans" pitchFamily="34" charset="-120"/>
              </a:rPr>
              <a:t>Tubesense</a:t>
            </a:r>
            <a:endParaRPr lang="en-US" sz="1200" dirty="0"/>
          </a:p>
        </p:txBody>
      </p:sp>
      <p:sp>
        <p:nvSpPr>
          <p:cNvPr id="7" name="Shape 5"/>
          <p:cNvSpPr/>
          <p:nvPr/>
        </p:nvSpPr>
        <p:spPr>
          <a:xfrm>
            <a:off x="2924969" y="2174081"/>
            <a:ext cx="152400" cy="152400"/>
          </a:xfrm>
          <a:prstGeom prst="rect">
            <a:avLst/>
          </a:prstGeom>
          <a:solidFill>
            <a:srgbClr val="A9B8D2"/>
          </a:solidFill>
          <a:ln/>
        </p:spPr>
      </p:sp>
      <p:sp>
        <p:nvSpPr>
          <p:cNvPr id="8" name="Text 6"/>
          <p:cNvSpPr/>
          <p:nvPr/>
        </p:nvSpPr>
        <p:spPr>
          <a:xfrm>
            <a:off x="3229769" y="2143621"/>
            <a:ext cx="1348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2E68"/>
                </a:solidFill>
                <a:latin typeface="IBM Plex Sans" pitchFamily="34" charset="0"/>
                <a:ea typeface="IBM Plex Sans" pitchFamily="34" charset="-122"/>
                <a:cs typeface="IBM Plex Sans" pitchFamily="34" charset="-120"/>
              </a:rPr>
              <a:t>Timetable guess</a:t>
            </a:r>
            <a:endParaRPr lang="en-US" sz="1200" dirty="0"/>
          </a:p>
        </p:txBody>
      </p:sp>
      <p:sp>
        <p:nvSpPr>
          <p:cNvPr id="9" name="Text 7"/>
          <p:cNvSpPr/>
          <p:nvPr/>
        </p:nvSpPr>
        <p:spPr>
          <a:xfrm>
            <a:off x="812800" y="2641402"/>
            <a:ext cx="77177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E68"/>
                </a:solidFill>
                <a:latin typeface="IBM Plex Sans" pitchFamily="34" charset="0"/>
                <a:ea typeface="IBM Plex Sans" pitchFamily="34" charset="-122"/>
                <a:cs typeface="IBM Plex Sans" pitchFamily="34" charset="-120"/>
              </a:rPr>
              <a:t>New rides, frozen maps (pre-registered, 24 Oct, Liverpool St ⇄ Bethnal Green)</a:t>
            </a:r>
            <a:endParaRPr lang="en-US" sz="1200" dirty="0"/>
          </a:p>
        </p:txBody>
      </p:sp>
      <p:sp>
        <p:nvSpPr>
          <p:cNvPr id="10" name="Shape 8"/>
          <p:cNvSpPr/>
          <p:nvPr/>
        </p:nvSpPr>
        <p:spPr>
          <a:xfrm>
            <a:off x="812800" y="2933402"/>
            <a:ext cx="742950" cy="279400"/>
          </a:xfrm>
          <a:prstGeom prst="rect">
            <a:avLst/>
          </a:prstGeom>
          <a:solidFill>
            <a:srgbClr val="1F4C95"/>
          </a:solidFill>
          <a:ln/>
        </p:spPr>
      </p:sp>
      <p:sp>
        <p:nvSpPr>
          <p:cNvPr id="11" name="Text 9"/>
          <p:cNvSpPr/>
          <p:nvPr/>
        </p:nvSpPr>
        <p:spPr>
          <a:xfrm>
            <a:off x="1657350" y="2930922"/>
            <a:ext cx="59817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2E68"/>
                </a:solidFill>
                <a:latin typeface="Oswald" pitchFamily="34" charset="0"/>
                <a:ea typeface="Oswald" pitchFamily="34" charset="-122"/>
                <a:cs typeface="Oswald" pitchFamily="34" charset="-120"/>
              </a:rPr>
              <a:t>1.95 m</a:t>
            </a:r>
            <a:endParaRPr lang="en-US" sz="1600" dirty="0"/>
          </a:p>
        </p:txBody>
      </p:sp>
      <p:sp>
        <p:nvSpPr>
          <p:cNvPr id="12" name="Shape 10"/>
          <p:cNvSpPr/>
          <p:nvPr/>
        </p:nvSpPr>
        <p:spPr>
          <a:xfrm>
            <a:off x="812800" y="3294063"/>
            <a:ext cx="3124200" cy="279400"/>
          </a:xfrm>
          <a:prstGeom prst="rect">
            <a:avLst/>
          </a:prstGeom>
          <a:solidFill>
            <a:srgbClr val="A9B8D2"/>
          </a:solidFill>
          <a:ln/>
        </p:spPr>
      </p:sp>
      <p:sp>
        <p:nvSpPr>
          <p:cNvPr id="13" name="Text 11"/>
          <p:cNvSpPr/>
          <p:nvPr/>
        </p:nvSpPr>
        <p:spPr>
          <a:xfrm>
            <a:off x="4038600" y="3291582"/>
            <a:ext cx="50577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2E68"/>
                </a:solidFill>
                <a:latin typeface="Oswald" pitchFamily="34" charset="0"/>
                <a:ea typeface="Oswald" pitchFamily="34" charset="-122"/>
                <a:cs typeface="Oswald" pitchFamily="34" charset="-120"/>
              </a:rPr>
              <a:t>8.2 m</a:t>
            </a:r>
            <a:endParaRPr lang="en-US" sz="1600" dirty="0"/>
          </a:p>
        </p:txBody>
      </p:sp>
      <p:sp>
        <p:nvSpPr>
          <p:cNvPr id="14" name="Text 12"/>
          <p:cNvSpPr/>
          <p:nvPr/>
        </p:nvSpPr>
        <p:spPr>
          <a:xfrm>
            <a:off x="812800" y="3753842"/>
            <a:ext cx="77177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E68"/>
                </a:solidFill>
                <a:latin typeface="IBM Plex Sans" pitchFamily="34" charset="0"/>
                <a:ea typeface="IBM Plex Sans" pitchFamily="34" charset="-122"/>
                <a:cs typeface="IBM Plex Sans" pitchFamily="34" charset="-120"/>
              </a:rPr>
              <a:t>Live tracker, held-out rides (23 Oct)</a:t>
            </a:r>
            <a:endParaRPr lang="en-US" sz="1200" dirty="0"/>
          </a:p>
        </p:txBody>
      </p:sp>
      <p:sp>
        <p:nvSpPr>
          <p:cNvPr id="15" name="Shape 13"/>
          <p:cNvSpPr/>
          <p:nvPr/>
        </p:nvSpPr>
        <p:spPr>
          <a:xfrm>
            <a:off x="812800" y="4045843"/>
            <a:ext cx="838200" cy="279400"/>
          </a:xfrm>
          <a:prstGeom prst="rect">
            <a:avLst/>
          </a:prstGeom>
          <a:solidFill>
            <a:srgbClr val="1F4C95"/>
          </a:solidFill>
          <a:ln/>
        </p:spPr>
      </p:sp>
      <p:sp>
        <p:nvSpPr>
          <p:cNvPr id="16" name="Text 14"/>
          <p:cNvSpPr/>
          <p:nvPr/>
        </p:nvSpPr>
        <p:spPr>
          <a:xfrm>
            <a:off x="1752600" y="4043363"/>
            <a:ext cx="50065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2E68"/>
                </a:solidFill>
                <a:latin typeface="Oswald" pitchFamily="34" charset="0"/>
                <a:ea typeface="Oswald" pitchFamily="34" charset="-122"/>
                <a:cs typeface="Oswald" pitchFamily="34" charset="-120"/>
              </a:rPr>
              <a:t>2.2 m</a:t>
            </a:r>
            <a:endParaRPr lang="en-US" sz="1600" dirty="0"/>
          </a:p>
        </p:txBody>
      </p:sp>
      <p:sp>
        <p:nvSpPr>
          <p:cNvPr id="17" name="Shape 15"/>
          <p:cNvSpPr/>
          <p:nvPr/>
        </p:nvSpPr>
        <p:spPr>
          <a:xfrm>
            <a:off x="812800" y="4406503"/>
            <a:ext cx="4267200" cy="279400"/>
          </a:xfrm>
          <a:prstGeom prst="rect">
            <a:avLst/>
          </a:prstGeom>
          <a:solidFill>
            <a:srgbClr val="A9B8D2"/>
          </a:solidFill>
          <a:ln/>
        </p:spPr>
      </p:sp>
      <p:sp>
        <p:nvSpPr>
          <p:cNvPr id="18" name="Text 16"/>
          <p:cNvSpPr/>
          <p:nvPr/>
        </p:nvSpPr>
        <p:spPr>
          <a:xfrm>
            <a:off x="5181600" y="4404023"/>
            <a:ext cx="5684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2E68"/>
                </a:solidFill>
                <a:latin typeface="Oswald" pitchFamily="34" charset="0"/>
                <a:ea typeface="Oswald" pitchFamily="34" charset="-122"/>
                <a:cs typeface="Oswald" pitchFamily="34" charset="-120"/>
              </a:rPr>
              <a:t>11.2 m</a:t>
            </a:r>
            <a:endParaRPr lang="en-US" sz="1600" dirty="0"/>
          </a:p>
        </p:txBody>
      </p:sp>
      <p:sp>
        <p:nvSpPr>
          <p:cNvPr id="19" name="Text 17"/>
          <p:cNvSpPr/>
          <p:nvPr/>
        </p:nvSpPr>
        <p:spPr>
          <a:xfrm>
            <a:off x="812800" y="4866283"/>
            <a:ext cx="77177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2E68"/>
                </a:solidFill>
                <a:latin typeface="IBM Plex Sans" pitchFamily="34" charset="0"/>
                <a:ea typeface="IBM Plex Sans" pitchFamily="34" charset="-122"/>
                <a:cs typeface="IBM Plex Sans" pitchFamily="34" charset="-120"/>
              </a:rPr>
              <a:t>Between curves only (the hard part)</a:t>
            </a:r>
            <a:endParaRPr lang="en-US" sz="1200" dirty="0"/>
          </a:p>
        </p:txBody>
      </p:sp>
      <p:sp>
        <p:nvSpPr>
          <p:cNvPr id="20" name="Shape 18"/>
          <p:cNvSpPr/>
          <p:nvPr/>
        </p:nvSpPr>
        <p:spPr>
          <a:xfrm>
            <a:off x="812800" y="5158284"/>
            <a:ext cx="4191000" cy="279400"/>
          </a:xfrm>
          <a:prstGeom prst="rect">
            <a:avLst/>
          </a:prstGeom>
          <a:solidFill>
            <a:srgbClr val="1F4C95"/>
          </a:solidFill>
          <a:ln/>
        </p:spPr>
      </p:sp>
      <p:sp>
        <p:nvSpPr>
          <p:cNvPr id="21" name="Text 19"/>
          <p:cNvSpPr/>
          <p:nvPr/>
        </p:nvSpPr>
        <p:spPr>
          <a:xfrm>
            <a:off x="5105400" y="5155803"/>
            <a:ext cx="40600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2E68"/>
                </a:solidFill>
                <a:latin typeface="Oswald" pitchFamily="34" charset="0"/>
                <a:ea typeface="Oswald" pitchFamily="34" charset="-122"/>
                <a:cs typeface="Oswald" pitchFamily="34" charset="-120"/>
              </a:rPr>
              <a:t>11 m</a:t>
            </a:r>
            <a:endParaRPr lang="en-US" sz="1600" dirty="0"/>
          </a:p>
        </p:txBody>
      </p:sp>
      <p:sp>
        <p:nvSpPr>
          <p:cNvPr id="22" name="Shape 20"/>
          <p:cNvSpPr/>
          <p:nvPr/>
        </p:nvSpPr>
        <p:spPr>
          <a:xfrm>
            <a:off x="812800" y="5518944"/>
            <a:ext cx="6096000" cy="279400"/>
          </a:xfrm>
          <a:prstGeom prst="rect">
            <a:avLst/>
          </a:prstGeom>
          <a:solidFill>
            <a:srgbClr val="A9B8D2"/>
          </a:solidFill>
          <a:ln/>
        </p:spPr>
      </p:sp>
      <p:sp>
        <p:nvSpPr>
          <p:cNvPr id="23" name="Text 21"/>
          <p:cNvSpPr/>
          <p:nvPr/>
        </p:nvSpPr>
        <p:spPr>
          <a:xfrm>
            <a:off x="7010400" y="5516463"/>
            <a:ext cx="43648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2E68"/>
                </a:solidFill>
                <a:latin typeface="Oswald" pitchFamily="34" charset="0"/>
                <a:ea typeface="Oswald" pitchFamily="34" charset="-122"/>
                <a:cs typeface="Oswald" pitchFamily="34" charset="-120"/>
              </a:rPr>
              <a:t>16 m</a:t>
            </a:r>
            <a:endParaRPr lang="en-US" sz="1600" dirty="0"/>
          </a:p>
        </p:txBody>
      </p:sp>
      <p:sp>
        <p:nvSpPr>
          <p:cNvPr id="24" name="Shape 22"/>
          <p:cNvSpPr/>
          <p:nvPr/>
        </p:nvSpPr>
        <p:spPr>
          <a:xfrm>
            <a:off x="8712200" y="2036961"/>
            <a:ext cx="2667000" cy="3805039"/>
          </a:xfrm>
          <a:prstGeom prst="rect">
            <a:avLst/>
          </a:prstGeom>
          <a:solidFill>
            <a:srgbClr val="0E2E68"/>
          </a:solidFill>
          <a:ln/>
        </p:spPr>
      </p:sp>
      <p:sp>
        <p:nvSpPr>
          <p:cNvPr id="25" name="Text 23"/>
          <p:cNvSpPr/>
          <p:nvPr/>
        </p:nvSpPr>
        <p:spPr>
          <a:xfrm>
            <a:off x="8966200" y="2959199"/>
            <a:ext cx="222377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B33D"/>
                </a:solidFill>
                <a:latin typeface="Oswald" pitchFamily="34" charset="0"/>
                <a:ea typeface="Oswald" pitchFamily="34" charset="-122"/>
                <a:cs typeface="Oswald" pitchFamily="34" charset="-120"/>
              </a:rPr>
              <a:t>96%</a:t>
            </a:r>
            <a:endParaRPr lang="en-US" sz="6000" dirty="0"/>
          </a:p>
        </p:txBody>
      </p:sp>
      <p:sp>
        <p:nvSpPr>
          <p:cNvPr id="26" name="Text 24"/>
          <p:cNvSpPr/>
          <p:nvPr/>
        </p:nvSpPr>
        <p:spPr>
          <a:xfrm>
            <a:off x="8966200" y="3822799"/>
            <a:ext cx="2223770" cy="112236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F1FF"/>
                </a:solidFill>
                <a:latin typeface="IBM Plex Sans" pitchFamily="34" charset="0"/>
                <a:ea typeface="IBM Plex Sans" pitchFamily="34" charset="-122"/>
                <a:cs typeface="IBM Plex Sans" pitchFamily="34" charset="-120"/>
              </a:rPr>
              <a:t>of the time the truth sat inside the tracker’s 90% band on new rides.</a:t>
            </a:r>
            <a:endParaRPr lang="en-US" sz="1600" dirty="0"/>
          </a:p>
        </p:txBody>
      </p:sp>
      <p:sp>
        <p:nvSpPr>
          <p:cNvPr id="27" name="Text 2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Error = agreement with curve-edge landmarks matched across rides; there is no GPS truth in a tunnel</a:t>
            </a:r>
            <a:endParaRPr lang="en-US" sz="12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07 · THE HONEST SCOREBOARD</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9F1FF"/>
                </a:solidFill>
                <a:latin typeface="Oswald" pitchFamily="34" charset="0"/>
                <a:ea typeface="Oswald" pitchFamily="34" charset="-122"/>
                <a:cs typeface="Oswald" pitchFamily="34" charset="-120"/>
              </a:rPr>
              <a:t>WE PUBLISH THE NO-GOS TOO</a:t>
            </a:r>
            <a:endParaRPr lang="en-US" sz="3600" dirty="0"/>
          </a:p>
        </p:txBody>
      </p:sp>
      <p:sp>
        <p:nvSpPr>
          <p:cNvPr id="4" name="Shape 2"/>
          <p:cNvSpPr/>
          <p:nvPr/>
        </p:nvSpPr>
        <p:spPr>
          <a:xfrm>
            <a:off x="812800" y="2043311"/>
            <a:ext cx="10566400" cy="0"/>
          </a:xfrm>
          <a:prstGeom prst="line">
            <a:avLst/>
          </a:prstGeom>
          <a:noFill/>
          <a:ln w="12700">
            <a:solidFill>
              <a:srgbClr val="FAF9F5">
                <a:alpha val="22000"/>
              </a:srgbClr>
            </a:solidFill>
            <a:prstDash val="solid"/>
          </a:ln>
        </p:spPr>
      </p:sp>
      <p:sp>
        <p:nvSpPr>
          <p:cNvPr id="5" name="Shape 3"/>
          <p:cNvSpPr/>
          <p:nvPr/>
        </p:nvSpPr>
        <p:spPr>
          <a:xfrm>
            <a:off x="819150" y="2036961"/>
            <a:ext cx="0" cy="3064669"/>
          </a:xfrm>
          <a:prstGeom prst="line">
            <a:avLst/>
          </a:prstGeom>
          <a:noFill/>
          <a:ln w="12700">
            <a:solidFill>
              <a:srgbClr val="FAF9F5">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7100" y="2138561"/>
          <a:ext cx="10350500" cy="2874169"/>
        </p:xfrm>
        <a:graphic>
          <a:graphicData uri="http://schemas.openxmlformats.org/drawingml/2006/table">
            <a:tbl>
              <a:tblPr/>
              <a:tblGrid>
                <a:gridCol w="4140200"/>
                <a:gridCol w="1656080"/>
                <a:gridCol w="4554220"/>
              </a:tblGrid>
              <a:tr h="359271">
                <a:tc>
                  <a:txBody>
                    <a:bodyPr/>
                    <a:lstStyle/>
                    <a:p>
                      <a:pPr indent="0" marL="0">
                        <a:lnSpc>
                          <a:spcPts val="1820"/>
                        </a:lnSpc>
                        <a:buNone/>
                      </a:pPr>
                      <a:r>
                        <a:rPr lang="en-US" sz="1300" b="1" dirty="0">
                          <a:solidFill>
                            <a:srgbClr val="E9F1FF"/>
                          </a:solidFill>
                          <a:latin typeface="IBM Plex Sans" pitchFamily="34" charset="0"/>
                          <a:ea typeface="IBM Plex Sans" pitchFamily="34" charset="-122"/>
                          <a:cs typeface="IBM Plex Sans" pitchFamily="34" charset="-120"/>
                        </a:rPr>
                        <a:t>Question</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9689A"/>
                      </a:solidFill>
                      <a:prstDash val="solid"/>
                      <a:round/>
                      <a:headEnd type="none" w="med" len="med"/>
                      <a:tailEnd type="none" w="med" len="med"/>
                    </a:lnR>
                    <a:lnT w="0" cap="flat" cmpd="sng" algn="ctr">
                      <a:noFill/>
                    </a:lnT>
                    <a:lnB w="12700" cap="flat" cmpd="sng" algn="ctr">
                      <a:solidFill>
                        <a:srgbClr val="49689A"/>
                      </a:solidFill>
                      <a:prstDash val="solid"/>
                      <a:round/>
                      <a:headEnd type="none" w="med" len="med"/>
                      <a:tailEnd type="none" w="med" len="med"/>
                    </a:lnB>
                    <a:solidFill>
                      <a:srgbClr val="173F80"/>
                    </a:solidFill>
                  </a:tcPr>
                </a:tc>
                <a:tc>
                  <a:txBody>
                    <a:bodyPr/>
                    <a:lstStyle/>
                    <a:p>
                      <a:pPr indent="0" marL="0">
                        <a:lnSpc>
                          <a:spcPts val="1820"/>
                        </a:lnSpc>
                        <a:buNone/>
                      </a:pPr>
                      <a:r>
                        <a:rPr lang="en-US" sz="1300" b="1" dirty="0">
                          <a:solidFill>
                            <a:srgbClr val="E9F1FF"/>
                          </a:solidFill>
                          <a:latin typeface="IBM Plex Sans" pitchFamily="34" charset="0"/>
                          <a:ea typeface="IBM Plex Sans" pitchFamily="34" charset="-122"/>
                          <a:cs typeface="IBM Plex Sans" pitchFamily="34" charset="-120"/>
                        </a:rPr>
                        <a:t>Verdict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9689A"/>
                      </a:solidFill>
                      <a:prstDash val="solid"/>
                      <a:round/>
                      <a:headEnd type="none" w="med" len="med"/>
                      <a:tailEnd type="none" w="med" len="med"/>
                    </a:lnL>
                    <a:lnR w="12700" cap="flat" cmpd="sng" algn="ctr">
                      <a:solidFill>
                        <a:srgbClr val="49689A"/>
                      </a:solidFill>
                      <a:prstDash val="solid"/>
                      <a:round/>
                      <a:headEnd type="none" w="med" len="med"/>
                      <a:tailEnd type="none" w="med" len="med"/>
                    </a:lnR>
                    <a:lnT w="0" cap="flat" cmpd="sng" algn="ctr">
                      <a:noFill/>
                    </a:lnT>
                    <a:lnB w="12700" cap="flat" cmpd="sng" algn="ctr">
                      <a:solidFill>
                        <a:srgbClr val="49689A"/>
                      </a:solidFill>
                      <a:prstDash val="solid"/>
                      <a:round/>
                      <a:headEnd type="none" w="med" len="med"/>
                      <a:tailEnd type="none" w="med" len="med"/>
                    </a:lnB>
                    <a:solidFill>
                      <a:srgbClr val="173F80"/>
                    </a:solidFill>
                  </a:tcPr>
                </a:tc>
                <a:tc>
                  <a:txBody>
                    <a:bodyPr/>
                    <a:lstStyle/>
                    <a:p>
                      <a:pPr indent="0" marL="0">
                        <a:lnSpc>
                          <a:spcPts val="1820"/>
                        </a:lnSpc>
                        <a:buNone/>
                      </a:pPr>
                      <a:r>
                        <a:rPr lang="en-US" sz="1300" b="1" dirty="0">
                          <a:solidFill>
                            <a:srgbClr val="E9F1FF"/>
                          </a:solidFill>
                          <a:latin typeface="IBM Plex Sans" pitchFamily="34" charset="0"/>
                          <a:ea typeface="IBM Plex Sans" pitchFamily="34" charset="-122"/>
                          <a:cs typeface="IBM Plex Sans" pitchFamily="34" charset="-120"/>
                        </a:rPr>
                        <a:t>Evidence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9689A"/>
                      </a:solidFill>
                      <a:prstDash val="solid"/>
                      <a:round/>
                      <a:headEnd type="none" w="med" len="med"/>
                      <a:tailEnd type="none" w="med" len="med"/>
                    </a:lnL>
                    <a:lnR w="12700" cap="flat" cmpd="sng" algn="ctr">
                      <a:solidFill>
                        <a:srgbClr val="49689A"/>
                      </a:solidFill>
                      <a:prstDash val="solid"/>
                      <a:round/>
                      <a:headEnd type="none" w="med" len="med"/>
                      <a:tailEnd type="none" w="med" len="med"/>
                    </a:lnR>
                    <a:lnT w="0" cap="flat" cmpd="sng" algn="ctr">
                      <a:noFill/>
                    </a:lnT>
                    <a:lnB w="12700" cap="flat" cmpd="sng" algn="ctr">
                      <a:solidFill>
                        <a:srgbClr val="49689A"/>
                      </a:solidFill>
                      <a:prstDash val="solid"/>
                      <a:round/>
                      <a:headEnd type="none" w="med" len="med"/>
                      <a:tailEnd type="none" w="med" len="med"/>
                    </a:lnB>
                    <a:solidFill>
                      <a:srgbClr val="173F80"/>
                    </a:solidFill>
                  </a:tcPr>
                </a:tc>
              </a:tr>
              <a:tr h="359271">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Do gyro curve signatures repeat?</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25B87"/>
                      </a:solidFill>
                      <a:prstDash val="solid"/>
                      <a:round/>
                      <a:headEnd type="none" w="med" len="med"/>
                      <a:tailEnd type="none" w="med" len="med"/>
                    </a:lnR>
                    <a:lnT w="12700" cap="flat" cmpd="sng" algn="ctr">
                      <a:solidFill>
                        <a:srgbClr val="49689A"/>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F2B33D"/>
                          </a:solidFill>
                          <a:latin typeface="IBM Plex Sans" pitchFamily="34" charset="0"/>
                          <a:ea typeface="IBM Plex Sans" pitchFamily="34" charset="-122"/>
                          <a:cs typeface="IBM Plex Sans" pitchFamily="34" charset="-120"/>
                        </a:rPr>
                        <a:t>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9689A"/>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r 0.76–0.99 same section vs 0.20 different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9689A"/>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r>
              <a:tr h="359271">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Positioning on new rides (pre-registered)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F2B33D"/>
                          </a:solidFill>
                          <a:latin typeface="IBM Plex Sans" pitchFamily="34" charset="0"/>
                          <a:ea typeface="IBM Plex Sans" pitchFamily="34" charset="-122"/>
                          <a:cs typeface="IBM Plex Sans" pitchFamily="34" charset="-120"/>
                        </a:rPr>
                        <a:t>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1.95 m vs 8.2 m timetable, coverage 0.96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r>
              <a:tr h="359271">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Does it transfer to Hammersmith &amp; City?</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A9C2EC"/>
                          </a:solidFill>
                          <a:latin typeface="IBM Plex Sans" pitchFamily="34" charset="0"/>
                          <a:ea typeface="IBM Plex Sans" pitchFamily="34" charset="-122"/>
                          <a:cs typeface="IBM Plex Sans" pitchFamily="34" charset="-120"/>
                        </a:rPr>
                        <a:t>NO-GO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One usable pair; 52 m vs 47 m timetable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r>
              <a:tr h="359271">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Rank section loudness from phone audio</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A9C2EC"/>
                          </a:solidFill>
                          <a:latin typeface="IBM Plex Sans" pitchFamily="34" charset="0"/>
                          <a:ea typeface="IBM Plex Sans" pitchFamily="34" charset="-122"/>
                          <a:cs typeface="IBM Plex Sans" pitchFamily="34" charset="-120"/>
                        </a:rPr>
                        <a:t>NO-GO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10 of 11 trips, +0.54 dB mean; rule needed all 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r>
              <a:tr h="359271">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Magnetometer as a position fingerprint</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A9C2EC"/>
                          </a:solidFill>
                          <a:latin typeface="IBM Plex Sans" pitchFamily="34" charset="0"/>
                          <a:ea typeface="IBM Plex Sans" pitchFamily="34" charset="-122"/>
                          <a:cs typeface="IBM Plex Sans" pitchFamily="34" charset="-120"/>
                        </a:rPr>
                        <a:t>NO-GO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No stable platform signature (sd 19 vs 22 µT)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r>
              <a:tr h="359271">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Absolute level, NIOSH app (indicative)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INDICATIVE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91.9 dB(A) EB, 87.3 WB, whole trip; app valid to ~85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r>
              <a:tr h="359271">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Corrugation wavelength from the roar</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A9C2EC"/>
                          </a:solidFill>
                          <a:latin typeface="IBM Plex Sans" pitchFamily="34" charset="0"/>
                          <a:ea typeface="IBM Plex Sans" pitchFamily="34" charset="-122"/>
                          <a:cs typeface="IBM Plex Sans" pitchFamily="34" charset="-120"/>
                        </a:rPr>
                        <a:t>NO-GO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c>
                  <a:txBody>
                    <a:bodyPr/>
                    <a:lstStyle/>
                    <a:p>
                      <a:pPr indent="0" marL="0">
                        <a:lnSpc>
                          <a:spcPts val="1820"/>
                        </a:lnSpc>
                        <a:buNone/>
                      </a:pPr>
                      <a:r>
                        <a:rPr lang="en-US" sz="1300" dirty="0">
                          <a:solidFill>
                            <a:srgbClr val="E9F1FF"/>
                          </a:solidFill>
                          <a:latin typeface="IBM Plex Sans" pitchFamily="34" charset="0"/>
                          <a:ea typeface="IBM Plex Sans" pitchFamily="34" charset="-122"/>
                          <a:cs typeface="IBM Plex Sans" pitchFamily="34" charset="-120"/>
                        </a:rPr>
                        <a:t>Peaks don’t move with speed (9/9); cause untested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25B87"/>
                      </a:solidFill>
                      <a:prstDash val="solid"/>
                      <a:round/>
                      <a:headEnd type="none" w="med" len="med"/>
                      <a:tailEnd type="none" w="med" len="med"/>
                    </a:lnL>
                    <a:lnR w="12700" cap="flat" cmpd="sng" algn="ctr">
                      <a:solidFill>
                        <a:srgbClr val="425B87"/>
                      </a:solidFill>
                      <a:prstDash val="solid"/>
                      <a:round/>
                      <a:headEnd type="none" w="med" len="med"/>
                      <a:tailEnd type="none" w="med" len="med"/>
                    </a:lnR>
                    <a:lnT w="12700" cap="flat" cmpd="sng" algn="ctr">
                      <a:solidFill>
                        <a:srgbClr val="425B87"/>
                      </a:solidFill>
                      <a:prstDash val="solid"/>
                      <a:round/>
                      <a:headEnd type="none" w="med" len="med"/>
                      <a:tailEnd type="none" w="med" len="med"/>
                    </a:lnT>
                    <a:lnB w="12700" cap="flat" cmpd="sng" algn="ctr">
                      <a:solidFill>
                        <a:srgbClr val="425B87"/>
                      </a:solidFill>
                      <a:prstDash val="solid"/>
                      <a:round/>
                      <a:headEnd type="none" w="med" len="med"/>
                      <a:tailEnd type="none" w="med" len="med"/>
                    </a:lnB>
                  </a:tcPr>
                </a:tc>
              </a:tr>
            </a:tbl>
          </a:graphicData>
        </a:graphic>
      </p:graphicFrame>
      <p:sp>
        <p:nvSpPr>
          <p:cNvPr id="7" name="Text 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24 Oct analysis frozen before the rides (git tag prereg-24oct) · outputs/FINDINGS.md</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F4C95"/>
                </a:solidFill>
                <a:latin typeface="JetBrains Mono" pitchFamily="49" charset="0"/>
                <a:ea typeface="JetBrains Mono" pitchFamily="49" charset="-122"/>
                <a:cs typeface="JetBrains Mono" pitchFamily="49" charset="-120"/>
              </a:rPr>
              <a:t>08 · THE VERIFICATION LOOP</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E68"/>
                </a:solidFill>
                <a:latin typeface="Oswald" pitchFamily="34" charset="0"/>
                <a:ea typeface="Oswald" pitchFamily="34" charset="-122"/>
                <a:cs typeface="Oswald" pitchFamily="34" charset="-120"/>
              </a:rPr>
              <a:t>THE AGENT CAN’T MARK ITS OWN HOMEWORK</a:t>
            </a:r>
            <a:endParaRPr lang="en-US" sz="3600" dirty="0"/>
          </a:p>
        </p:txBody>
      </p:sp>
      <p:sp>
        <p:nvSpPr>
          <p:cNvPr id="4" name="Shape 2"/>
          <p:cNvSpPr/>
          <p:nvPr/>
        </p:nvSpPr>
        <p:spPr>
          <a:xfrm>
            <a:off x="813816" y="2036961"/>
            <a:ext cx="2240280" cy="1493341"/>
          </a:xfrm>
          <a:prstGeom prst="rect">
            <a:avLst/>
          </a:prstGeom>
          <a:solidFill>
            <a:srgbClr val="FBFCFE"/>
          </a:solidFill>
          <a:ln/>
        </p:spPr>
      </p:sp>
      <p:sp>
        <p:nvSpPr>
          <p:cNvPr id="5" name="Shape 3"/>
          <p:cNvSpPr/>
          <p:nvPr/>
        </p:nvSpPr>
        <p:spPr>
          <a:xfrm>
            <a:off x="813816" y="2056011"/>
            <a:ext cx="2240280" cy="0"/>
          </a:xfrm>
          <a:prstGeom prst="line">
            <a:avLst/>
          </a:prstGeom>
          <a:noFill/>
          <a:ln w="38100">
            <a:solidFill>
              <a:srgbClr val="1F4C95"/>
            </a:solidFill>
            <a:prstDash val="solid"/>
          </a:ln>
        </p:spPr>
      </p:sp>
      <p:sp>
        <p:nvSpPr>
          <p:cNvPr id="6" name="Text 4"/>
          <p:cNvSpPr/>
          <p:nvPr/>
        </p:nvSpPr>
        <p:spPr>
          <a:xfrm>
            <a:off x="996696" y="2278261"/>
            <a:ext cx="192024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PROPOSE</a:t>
            </a:r>
            <a:endParaRPr lang="en-US" sz="2200" dirty="0"/>
          </a:p>
        </p:txBody>
      </p:sp>
      <p:sp>
        <p:nvSpPr>
          <p:cNvPr id="7" name="Text 5"/>
          <p:cNvSpPr/>
          <p:nvPr/>
        </p:nvSpPr>
        <p:spPr>
          <a:xfrm>
            <a:off x="996696" y="2687141"/>
            <a:ext cx="19202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Argon picks tracker settings from an allow-list, each with a stated hypothesis.</a:t>
            </a:r>
            <a:endParaRPr lang="en-US" sz="1200" dirty="0"/>
          </a:p>
        </p:txBody>
      </p:sp>
      <p:sp>
        <p:nvSpPr>
          <p:cNvPr id="8" name="Shape 6"/>
          <p:cNvSpPr/>
          <p:nvPr/>
        </p:nvSpPr>
        <p:spPr>
          <a:xfrm>
            <a:off x="3589020" y="2036961"/>
            <a:ext cx="2240280" cy="1493341"/>
          </a:xfrm>
          <a:prstGeom prst="rect">
            <a:avLst/>
          </a:prstGeom>
          <a:solidFill>
            <a:srgbClr val="FBFCFE"/>
          </a:solidFill>
          <a:ln/>
        </p:spPr>
      </p:sp>
      <p:sp>
        <p:nvSpPr>
          <p:cNvPr id="9" name="Shape 7"/>
          <p:cNvSpPr/>
          <p:nvPr/>
        </p:nvSpPr>
        <p:spPr>
          <a:xfrm>
            <a:off x="3589020" y="2056011"/>
            <a:ext cx="2240280" cy="0"/>
          </a:xfrm>
          <a:prstGeom prst="line">
            <a:avLst/>
          </a:prstGeom>
          <a:noFill/>
          <a:ln w="38100">
            <a:solidFill>
              <a:srgbClr val="1F4C95"/>
            </a:solidFill>
            <a:prstDash val="solid"/>
          </a:ln>
        </p:spPr>
      </p:sp>
      <p:sp>
        <p:nvSpPr>
          <p:cNvPr id="10" name="Text 8"/>
          <p:cNvSpPr/>
          <p:nvPr/>
        </p:nvSpPr>
        <p:spPr>
          <a:xfrm>
            <a:off x="3771900" y="2278261"/>
            <a:ext cx="192024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SCORE</a:t>
            </a:r>
            <a:endParaRPr lang="en-US" sz="2200" dirty="0"/>
          </a:p>
        </p:txBody>
      </p:sp>
      <p:sp>
        <p:nvSpPr>
          <p:cNvPr id="11" name="Text 9"/>
          <p:cNvSpPr/>
          <p:nvPr/>
        </p:nvSpPr>
        <p:spPr>
          <a:xfrm>
            <a:off x="3771900" y="2687141"/>
            <a:ext cx="19202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A harness it cannot edit scores each one, with a rule fixed before the session.</a:t>
            </a:r>
            <a:endParaRPr lang="en-US" sz="1200" dirty="0"/>
          </a:p>
        </p:txBody>
      </p:sp>
      <p:sp>
        <p:nvSpPr>
          <p:cNvPr id="12" name="Shape 10"/>
          <p:cNvSpPr/>
          <p:nvPr/>
        </p:nvSpPr>
        <p:spPr>
          <a:xfrm>
            <a:off x="6364224" y="2036961"/>
            <a:ext cx="2240280" cy="1493341"/>
          </a:xfrm>
          <a:prstGeom prst="rect">
            <a:avLst/>
          </a:prstGeom>
          <a:solidFill>
            <a:srgbClr val="FBFCFE"/>
          </a:solidFill>
          <a:ln/>
        </p:spPr>
      </p:sp>
      <p:sp>
        <p:nvSpPr>
          <p:cNvPr id="13" name="Shape 11"/>
          <p:cNvSpPr/>
          <p:nvPr/>
        </p:nvSpPr>
        <p:spPr>
          <a:xfrm>
            <a:off x="6364224" y="2056011"/>
            <a:ext cx="2240280" cy="0"/>
          </a:xfrm>
          <a:prstGeom prst="line">
            <a:avLst/>
          </a:prstGeom>
          <a:noFill/>
          <a:ln w="38100">
            <a:solidFill>
              <a:srgbClr val="1F4C95"/>
            </a:solidFill>
            <a:prstDash val="solid"/>
          </a:ln>
        </p:spPr>
      </p:sp>
      <p:sp>
        <p:nvSpPr>
          <p:cNvPr id="14" name="Text 12"/>
          <p:cNvSpPr/>
          <p:nvPr/>
        </p:nvSpPr>
        <p:spPr>
          <a:xfrm>
            <a:off x="6547104" y="2278261"/>
            <a:ext cx="192024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LOG</a:t>
            </a:r>
            <a:endParaRPr lang="en-US" sz="2200" dirty="0"/>
          </a:p>
        </p:txBody>
      </p:sp>
      <p:sp>
        <p:nvSpPr>
          <p:cNvPr id="15" name="Text 13"/>
          <p:cNvSpPr/>
          <p:nvPr/>
        </p:nvSpPr>
        <p:spPr>
          <a:xfrm>
            <a:off x="6547104" y="2687141"/>
            <a:ext cx="1920240" cy="66751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Every call is hash-chained and mirrored to MongoDB Atlas.</a:t>
            </a:r>
            <a:endParaRPr lang="en-US" sz="1200" dirty="0"/>
          </a:p>
        </p:txBody>
      </p:sp>
      <p:sp>
        <p:nvSpPr>
          <p:cNvPr id="16" name="Shape 14"/>
          <p:cNvSpPr/>
          <p:nvPr/>
        </p:nvSpPr>
        <p:spPr>
          <a:xfrm>
            <a:off x="9139428" y="2036961"/>
            <a:ext cx="2240280" cy="1493341"/>
          </a:xfrm>
          <a:prstGeom prst="rect">
            <a:avLst/>
          </a:prstGeom>
          <a:solidFill>
            <a:srgbClr val="FBFCFE"/>
          </a:solidFill>
          <a:ln/>
        </p:spPr>
      </p:sp>
      <p:sp>
        <p:nvSpPr>
          <p:cNvPr id="17" name="Shape 15"/>
          <p:cNvSpPr/>
          <p:nvPr/>
        </p:nvSpPr>
        <p:spPr>
          <a:xfrm>
            <a:off x="9139428" y="2056011"/>
            <a:ext cx="2240280" cy="0"/>
          </a:xfrm>
          <a:prstGeom prst="line">
            <a:avLst/>
          </a:prstGeom>
          <a:noFill/>
          <a:ln w="38100">
            <a:solidFill>
              <a:srgbClr val="F2B33D"/>
            </a:solidFill>
            <a:prstDash val="solid"/>
          </a:ln>
        </p:spPr>
      </p:sp>
      <p:sp>
        <p:nvSpPr>
          <p:cNvPr id="18" name="Text 16"/>
          <p:cNvSpPr/>
          <p:nvPr/>
        </p:nvSpPr>
        <p:spPr>
          <a:xfrm>
            <a:off x="9322308" y="2278261"/>
            <a:ext cx="1920240"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ONE SHOT</a:t>
            </a:r>
            <a:endParaRPr lang="en-US" sz="2200" dirty="0"/>
          </a:p>
        </p:txBody>
      </p:sp>
      <p:sp>
        <p:nvSpPr>
          <p:cNvPr id="19" name="Text 17"/>
          <p:cNvSpPr/>
          <p:nvPr/>
        </p:nvSpPr>
        <p:spPr>
          <a:xfrm>
            <a:off x="9322308" y="2687141"/>
            <a:ext cx="1920240" cy="66751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A single sealed score on rides recorded after it chose.</a:t>
            </a:r>
            <a:endParaRPr lang="en-US" sz="1200" dirty="0"/>
          </a:p>
        </p:txBody>
      </p:sp>
      <p:sp>
        <p:nvSpPr>
          <p:cNvPr id="20" name="Shape 18"/>
          <p:cNvSpPr/>
          <p:nvPr/>
        </p:nvSpPr>
        <p:spPr>
          <a:xfrm>
            <a:off x="812800" y="3784302"/>
            <a:ext cx="10566400" cy="2057698"/>
          </a:xfrm>
          <a:prstGeom prst="rect">
            <a:avLst/>
          </a:prstGeom>
          <a:solidFill>
            <a:srgbClr val="0E2E68"/>
          </a:solidFill>
          <a:ln/>
        </p:spPr>
      </p:sp>
      <p:sp>
        <p:nvSpPr>
          <p:cNvPr id="21" name="Text 19"/>
          <p:cNvSpPr/>
          <p:nvPr/>
        </p:nvSpPr>
        <p:spPr>
          <a:xfrm>
            <a:off x="1117600" y="4452441"/>
            <a:ext cx="27470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B33D"/>
                </a:solidFill>
                <a:latin typeface="Oswald" pitchFamily="34" charset="0"/>
                <a:ea typeface="Oswald" pitchFamily="34" charset="-122"/>
                <a:cs typeface="Oswald" pitchFamily="34" charset="-120"/>
              </a:rPr>
              <a:t>6 → 1</a:t>
            </a:r>
            <a:endParaRPr lang="en-US" sz="3600" dirty="0"/>
          </a:p>
        </p:txBody>
      </p:sp>
      <p:sp>
        <p:nvSpPr>
          <p:cNvPr id="22" name="Text 20"/>
          <p:cNvSpPr/>
          <p:nvPr/>
        </p:nvSpPr>
        <p:spPr>
          <a:xfrm>
            <a:off x="1117600" y="4960441"/>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experiments → accepted</a:t>
            </a:r>
            <a:endParaRPr lang="en-US" sz="1200" dirty="0"/>
          </a:p>
        </p:txBody>
      </p:sp>
      <p:sp>
        <p:nvSpPr>
          <p:cNvPr id="23" name="Text 21"/>
          <p:cNvSpPr/>
          <p:nvPr/>
        </p:nvSpPr>
        <p:spPr>
          <a:xfrm>
            <a:off x="4089400" y="4528641"/>
            <a:ext cx="71945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F1FF"/>
                </a:solidFill>
                <a:latin typeface="IBM Plex Sans" pitchFamily="34" charset="0"/>
                <a:ea typeface="IBM Plex Sans" pitchFamily="34" charset="-122"/>
                <a:cs typeface="IBM Plex Sans" pitchFamily="34" charset="-120"/>
              </a:rPr>
              <a:t>Sealed test: </a:t>
            </a:r>
            <a:r>
              <a:rPr lang="en-US" sz="1600" b="1" dirty="0">
                <a:solidFill>
                  <a:srgbClr val="E9F1FF"/>
                </a:solidFill>
                <a:latin typeface="IBM Plex Sans" pitchFamily="34" charset="0"/>
                <a:ea typeface="IBM Plex Sans" pitchFamily="34" charset="-122"/>
                <a:cs typeface="IBM Plex Sans" pitchFamily="34" charset="-120"/>
              </a:rPr>
              <a:t>1.8 m, the same as the old tracker.</a:t>
            </a:r>
            <a:r>
              <a:rPr lang="en-US" sz="1600" dirty="0">
                <a:solidFill>
                  <a:srgbClr val="E9F1FF"/>
                </a:solidFill>
                <a:latin typeface="IBM Plex Sans" pitchFamily="34" charset="0"/>
                <a:ea typeface="IBM Plex Sans" pitchFamily="34" charset="-122"/>
                <a:cs typeface="IBM Plex Sans" pitchFamily="34" charset="-120"/>
              </a:rPr>
              <a:t> The tuning gain didn’t carry over, and the log proves we only got one try.</a:t>
            </a:r>
            <a:endParaRPr lang="en-US" sz="1600" dirty="0"/>
          </a:p>
        </p:txBody>
      </p:sp>
      <p:sp>
        <p:nvSpPr>
          <p:cNvPr id="24" name="Text 2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agent/harness.py · outputs_posthoc/attempts.jsonl (attempt 8) · analyst_session.md</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09</a:t>
            </a:r>
            <a:endParaRPr lang="en-US" sz="1200" dirty="0"/>
          </a:p>
        </p:txBody>
      </p:sp>
      <p:sp>
        <p:nvSpPr>
          <p:cNvPr id="26" name="Right Arrow 25"/>
          <p:cNvSpPr/>
          <p:nvPr/>
        </p:nvSpPr>
        <p:spPr>
          <a:xfrm>
            <a:off x="3154680" y="2633472"/>
            <a:ext cx="329184" cy="310896"/>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5929884" y="2633472"/>
            <a:ext cx="329184" cy="310896"/>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8705088" y="2633472"/>
            <a:ext cx="329184" cy="310896"/>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F4C95"/>
                </a:solidFill>
                <a:latin typeface="JetBrains Mono" pitchFamily="49" charset="0"/>
                <a:ea typeface="JetBrains Mono" pitchFamily="49" charset="-122"/>
                <a:cs typeface="JetBrains Mono" pitchFamily="49" charset="-120"/>
              </a:rPr>
              <a:t>09 · MORE REAL WORK FOR ARGON</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E68"/>
                </a:solidFill>
                <a:latin typeface="Oswald" pitchFamily="34" charset="0"/>
                <a:ea typeface="Oswald" pitchFamily="34" charset="-122"/>
                <a:cs typeface="Oswald" pitchFamily="34" charset="-120"/>
              </a:rPr>
              <a:t>EVERY ARGON JOB HAS A CHECK</a:t>
            </a:r>
            <a:endParaRPr lang="en-US" sz="3600" dirty="0"/>
          </a:p>
        </p:txBody>
      </p:sp>
      <p:sp>
        <p:nvSpPr>
          <p:cNvPr id="4" name="Shape 2"/>
          <p:cNvSpPr/>
          <p:nvPr/>
        </p:nvSpPr>
        <p:spPr>
          <a:xfrm>
            <a:off x="812800" y="2036961"/>
            <a:ext cx="2527300" cy="1493341"/>
          </a:xfrm>
          <a:prstGeom prst="rect">
            <a:avLst/>
          </a:prstGeom>
          <a:solidFill>
            <a:srgbClr val="FBFCFE"/>
          </a:solidFill>
          <a:ln/>
        </p:spPr>
      </p:sp>
      <p:sp>
        <p:nvSpPr>
          <p:cNvPr id="5" name="Shape 3"/>
          <p:cNvSpPr/>
          <p:nvPr/>
        </p:nvSpPr>
        <p:spPr>
          <a:xfrm>
            <a:off x="812800" y="2056011"/>
            <a:ext cx="2527300" cy="0"/>
          </a:xfrm>
          <a:prstGeom prst="line">
            <a:avLst/>
          </a:prstGeom>
          <a:noFill/>
          <a:ln w="38100">
            <a:solidFill>
              <a:srgbClr val="1F4C95"/>
            </a:solidFill>
            <a:prstDash val="solid"/>
          </a:ln>
        </p:spPr>
      </p:sp>
      <p:sp>
        <p:nvSpPr>
          <p:cNvPr id="6" name="Text 4"/>
          <p:cNvSpPr/>
          <p:nvPr/>
        </p:nvSpPr>
        <p:spPr>
          <a:xfrm>
            <a:off x="1016000" y="2278261"/>
            <a:ext cx="2184527"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ASK</a:t>
            </a:r>
            <a:endParaRPr lang="en-US" sz="2200" dirty="0"/>
          </a:p>
        </p:txBody>
      </p:sp>
      <p:sp>
        <p:nvSpPr>
          <p:cNvPr id="7" name="Text 5"/>
          <p:cNvSpPr/>
          <p:nvPr/>
        </p:nvSpPr>
        <p:spPr>
          <a:xfrm>
            <a:off x="1016000" y="2687141"/>
            <a:ext cx="21845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Live answers go through the verifier, then an Argon review; flagged claims are withheld.</a:t>
            </a:r>
            <a:endParaRPr lang="en-US" sz="1200" dirty="0"/>
          </a:p>
        </p:txBody>
      </p:sp>
      <p:sp>
        <p:nvSpPr>
          <p:cNvPr id="8" name="Shape 6"/>
          <p:cNvSpPr/>
          <p:nvPr/>
        </p:nvSpPr>
        <p:spPr>
          <a:xfrm>
            <a:off x="3492500" y="2036961"/>
            <a:ext cx="2527300" cy="1493341"/>
          </a:xfrm>
          <a:prstGeom prst="rect">
            <a:avLst/>
          </a:prstGeom>
          <a:solidFill>
            <a:srgbClr val="FBFCFE"/>
          </a:solidFill>
          <a:ln/>
        </p:spPr>
      </p:sp>
      <p:sp>
        <p:nvSpPr>
          <p:cNvPr id="9" name="Shape 7"/>
          <p:cNvSpPr/>
          <p:nvPr/>
        </p:nvSpPr>
        <p:spPr>
          <a:xfrm>
            <a:off x="3492500" y="2056011"/>
            <a:ext cx="2527300" cy="0"/>
          </a:xfrm>
          <a:prstGeom prst="line">
            <a:avLst/>
          </a:prstGeom>
          <a:noFill/>
          <a:ln w="38100">
            <a:solidFill>
              <a:srgbClr val="1F4C95"/>
            </a:solidFill>
            <a:prstDash val="solid"/>
          </a:ln>
        </p:spPr>
      </p:sp>
      <p:sp>
        <p:nvSpPr>
          <p:cNvPr id="10" name="Text 8"/>
          <p:cNvSpPr/>
          <p:nvPr/>
        </p:nvSpPr>
        <p:spPr>
          <a:xfrm>
            <a:off x="3695700" y="2278261"/>
            <a:ext cx="2184527"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READ</a:t>
            </a:r>
            <a:endParaRPr lang="en-US" sz="2200" dirty="0"/>
          </a:p>
        </p:txBody>
      </p:sp>
      <p:sp>
        <p:nvSpPr>
          <p:cNvPr id="11" name="Text 9"/>
          <p:cNvSpPr/>
          <p:nvPr/>
        </p:nvSpPr>
        <p:spPr>
          <a:xfrm>
            <a:off x="3695700" y="2687141"/>
            <a:ext cx="218452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Reads TfL’s 2018 roughness charts from the PDF; a pixel reader checks every value.</a:t>
            </a:r>
            <a:endParaRPr lang="en-US" sz="1200" dirty="0"/>
          </a:p>
        </p:txBody>
      </p:sp>
      <p:sp>
        <p:nvSpPr>
          <p:cNvPr id="12" name="Shape 10"/>
          <p:cNvSpPr/>
          <p:nvPr/>
        </p:nvSpPr>
        <p:spPr>
          <a:xfrm>
            <a:off x="6172200" y="2036961"/>
            <a:ext cx="2527300" cy="1493341"/>
          </a:xfrm>
          <a:prstGeom prst="rect">
            <a:avLst/>
          </a:prstGeom>
          <a:solidFill>
            <a:srgbClr val="FBFCFE"/>
          </a:solidFill>
          <a:ln/>
        </p:spPr>
      </p:sp>
      <p:sp>
        <p:nvSpPr>
          <p:cNvPr id="13" name="Shape 11"/>
          <p:cNvSpPr/>
          <p:nvPr/>
        </p:nvSpPr>
        <p:spPr>
          <a:xfrm>
            <a:off x="6172200" y="2056011"/>
            <a:ext cx="2527300" cy="0"/>
          </a:xfrm>
          <a:prstGeom prst="line">
            <a:avLst/>
          </a:prstGeom>
          <a:noFill/>
          <a:ln w="38100">
            <a:solidFill>
              <a:srgbClr val="1F4C95"/>
            </a:solidFill>
            <a:prstDash val="solid"/>
          </a:ln>
        </p:spPr>
      </p:sp>
      <p:sp>
        <p:nvSpPr>
          <p:cNvPr id="14" name="Text 12"/>
          <p:cNvSpPr/>
          <p:nvPr/>
        </p:nvSpPr>
        <p:spPr>
          <a:xfrm>
            <a:off x="6375400" y="2278261"/>
            <a:ext cx="2184527"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RE-DERIVE</a:t>
            </a:r>
            <a:endParaRPr lang="en-US" sz="2200" dirty="0"/>
          </a:p>
        </p:txBody>
      </p:sp>
      <p:sp>
        <p:nvSpPr>
          <p:cNvPr id="15" name="Text 13"/>
          <p:cNvSpPr/>
          <p:nvPr/>
        </p:nvSpPr>
        <p:spPr>
          <a:xfrm>
            <a:off x="6375400" y="2687141"/>
            <a:ext cx="2184527" cy="66751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Recomputes our headline numbers with its own code: 65 of 65 match.</a:t>
            </a:r>
            <a:endParaRPr lang="en-US" sz="1200" dirty="0"/>
          </a:p>
        </p:txBody>
      </p:sp>
      <p:sp>
        <p:nvSpPr>
          <p:cNvPr id="16" name="Shape 14"/>
          <p:cNvSpPr/>
          <p:nvPr/>
        </p:nvSpPr>
        <p:spPr>
          <a:xfrm>
            <a:off x="8851900" y="2036961"/>
            <a:ext cx="2527300" cy="1493341"/>
          </a:xfrm>
          <a:prstGeom prst="rect">
            <a:avLst/>
          </a:prstGeom>
          <a:solidFill>
            <a:srgbClr val="FBFCFE"/>
          </a:solidFill>
          <a:ln/>
        </p:spPr>
      </p:sp>
      <p:sp>
        <p:nvSpPr>
          <p:cNvPr id="17" name="Shape 15"/>
          <p:cNvSpPr/>
          <p:nvPr/>
        </p:nvSpPr>
        <p:spPr>
          <a:xfrm>
            <a:off x="8851900" y="2056011"/>
            <a:ext cx="2527300" cy="0"/>
          </a:xfrm>
          <a:prstGeom prst="line">
            <a:avLst/>
          </a:prstGeom>
          <a:noFill/>
          <a:ln w="38100">
            <a:solidFill>
              <a:srgbClr val="F2B33D"/>
            </a:solidFill>
            <a:prstDash val="solid"/>
          </a:ln>
        </p:spPr>
      </p:sp>
      <p:sp>
        <p:nvSpPr>
          <p:cNvPr id="18" name="Text 16"/>
          <p:cNvSpPr/>
          <p:nvPr/>
        </p:nvSpPr>
        <p:spPr>
          <a:xfrm>
            <a:off x="9055100" y="2278261"/>
            <a:ext cx="2184527" cy="33268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E2E68"/>
                </a:solidFill>
                <a:latin typeface="Oswald" pitchFamily="34" charset="0"/>
                <a:ea typeface="Oswald" pitchFamily="34" charset="-122"/>
                <a:cs typeface="Oswald" pitchFamily="34" charset="-120"/>
              </a:rPr>
              <a:t>COMPARE</a:t>
            </a:r>
            <a:endParaRPr lang="en-US" sz="2200" dirty="0"/>
          </a:p>
        </p:txBody>
      </p:sp>
      <p:sp>
        <p:nvSpPr>
          <p:cNvPr id="19" name="Text 17"/>
          <p:cNvSpPr/>
          <p:nvPr/>
        </p:nvSpPr>
        <p:spPr>
          <a:xfrm>
            <a:off x="9055100" y="2687141"/>
            <a:ext cx="2184527" cy="66751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Flash vs Argon, 6 runs each: equal on the verifier; Argon cites more of the record.</a:t>
            </a:r>
            <a:endParaRPr lang="en-US" sz="1200" dirty="0"/>
          </a:p>
        </p:txBody>
      </p:sp>
      <p:sp>
        <p:nvSpPr>
          <p:cNvPr id="20" name="Shape 18"/>
          <p:cNvSpPr/>
          <p:nvPr/>
        </p:nvSpPr>
        <p:spPr>
          <a:xfrm>
            <a:off x="812800" y="3784302"/>
            <a:ext cx="10566400" cy="2057698"/>
          </a:xfrm>
          <a:prstGeom prst="rect">
            <a:avLst/>
          </a:prstGeom>
          <a:solidFill>
            <a:srgbClr val="0E2E68"/>
          </a:solidFill>
          <a:ln/>
        </p:spPr>
      </p:sp>
      <p:sp>
        <p:nvSpPr>
          <p:cNvPr id="21" name="Text 19"/>
          <p:cNvSpPr/>
          <p:nvPr/>
        </p:nvSpPr>
        <p:spPr>
          <a:xfrm>
            <a:off x="1117600" y="4452441"/>
            <a:ext cx="274701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B33D"/>
                </a:solidFill>
                <a:latin typeface="Oswald" pitchFamily="34" charset="0"/>
                <a:ea typeface="Oswald" pitchFamily="34" charset="-122"/>
                <a:cs typeface="Oswald" pitchFamily="34" charset="-120"/>
              </a:rPr>
              <a:t>120/120</a:t>
            </a:r>
            <a:endParaRPr lang="en-US" sz="3600" dirty="0"/>
          </a:p>
        </p:txBody>
      </p:sp>
      <p:sp>
        <p:nvSpPr>
          <p:cNvPr id="22" name="Text 20"/>
          <p:cNvSpPr/>
          <p:nvPr/>
        </p:nvSpPr>
        <p:spPr>
          <a:xfrm>
            <a:off x="1117600" y="4960441"/>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IBM Plex Sans" pitchFamily="34" charset="0"/>
                <a:ea typeface="IBM Plex Sans" pitchFamily="34" charset="-122"/>
                <a:cs typeface="IBM Plex Sans" pitchFamily="34" charset="-120"/>
              </a:rPr>
              <a:t>chart readings match the pixels</a:t>
            </a:r>
            <a:endParaRPr lang="en-US" sz="1200" dirty="0"/>
          </a:p>
        </p:txBody>
      </p:sp>
      <p:sp>
        <p:nvSpPr>
          <p:cNvPr id="24" name="Text 22"/>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agent/ask.py · roughness.py · recheck.py · outputs_posthoc/model_comparison.md</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10</a:t>
            </a:r>
            <a:endParaRPr lang="en-US" sz="1200" dirty="0"/>
          </a:p>
        </p:txBody>
      </p:sp>
      <p:pic>
        <p:nvPicPr>
          <p:cNvPr id="26" name="Picture 25" descr="roughness_crop.png"/>
          <p:cNvPicPr>
            <a:picLocks noChangeAspect="1"/>
          </p:cNvPicPr>
          <p:nvPr/>
        </p:nvPicPr>
        <p:blipFill>
          <a:blip r:embed="rId2"/>
          <a:stretch>
            <a:fillRect/>
          </a:stretch>
        </p:blipFill>
        <p:spPr>
          <a:xfrm>
            <a:off x="3977639" y="4005072"/>
            <a:ext cx="7269480" cy="1372114"/>
          </a:xfrm>
          <a:prstGeom prst="rect">
            <a:avLst/>
          </a:prstGeom>
        </p:spPr>
      </p:pic>
      <p:sp>
        <p:nvSpPr>
          <p:cNvPr id="27" name="TextBox 26"/>
          <p:cNvSpPr txBox="1"/>
          <p:nvPr/>
        </p:nvSpPr>
        <p:spPr>
          <a:xfrm>
            <a:off x="1115568" y="5285232"/>
            <a:ext cx="2697480" cy="457200"/>
          </a:xfrm>
          <a:prstGeom prst="rect">
            <a:avLst/>
          </a:prstGeom>
          <a:noFill/>
        </p:spPr>
        <p:txBody>
          <a:bodyPr wrap="square" anchor="t" lIns="0" rIns="0" tIns="0" bIns="0">
            <a:spAutoFit/>
          </a:bodyPr>
          <a:lstStyle/>
          <a:p>
            <a:pPr algn="l"/>
            <a:r>
              <a:rPr sz="1000" b="0">
                <a:solidFill>
                  <a:srgbClr val="A9C2EC"/>
                </a:solidFill>
                <a:latin typeface="IBM Plex Sans"/>
              </a:rPr>
              <a:t>Checks still caught misnamed colours and invented numbers. Pending a human check.</a:t>
            </a:r>
          </a:p>
        </p:txBody>
      </p:sp>
      <p:sp>
        <p:nvSpPr>
          <p:cNvPr id="28" name="TextBox 27"/>
          <p:cNvSpPr txBox="1"/>
          <p:nvPr/>
        </p:nvSpPr>
        <p:spPr>
          <a:xfrm>
            <a:off x="3977639" y="5486400"/>
            <a:ext cx="7269480" cy="274320"/>
          </a:xfrm>
          <a:prstGeom prst="rect">
            <a:avLst/>
          </a:prstGeom>
          <a:noFill/>
        </p:spPr>
        <p:txBody>
          <a:bodyPr wrap="square" anchor="t" lIns="0" rIns="0" tIns="0" bIns="0">
            <a:spAutoFit/>
          </a:bodyPr>
          <a:lstStyle/>
          <a:p>
            <a:pPr algn="l"/>
            <a:r>
              <a:rPr sz="1000" b="0">
                <a:solidFill>
                  <a:srgbClr val="A9C2EC"/>
                </a:solidFill>
                <a:latin typeface="IBM Plex Sans"/>
              </a:rPr>
              <a:t>TfL FOI-1730-1819, Jan 2018, Bethnal Green → Mile End EB. Highlight: TfL’s own stated stretch.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10 · INVESTIGATOR + MONGODB ATLAS</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9F1FF"/>
                </a:solidFill>
                <a:latin typeface="Oswald" pitchFamily="34" charset="0"/>
                <a:ea typeface="Oswald" pitchFamily="34" charset="-122"/>
                <a:cs typeface="Oswald" pitchFamily="34" charset="-120"/>
              </a:rPr>
              <a:t>TFL’S OWN RECORDS, SEARCHED THREE WAYS</a:t>
            </a:r>
            <a:endParaRPr lang="en-US" sz="3600" dirty="0"/>
          </a:p>
        </p:txBody>
      </p:sp>
      <p:sp>
        <p:nvSpPr>
          <p:cNvPr id="4" name="Text 2"/>
          <p:cNvSpPr/>
          <p:nvPr/>
        </p:nvSpPr>
        <p:spPr>
          <a:xfrm>
            <a:off x="812800" y="2036961"/>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C2EC"/>
                </a:solidFill>
                <a:latin typeface="JetBrains Mono" pitchFamily="49" charset="0"/>
                <a:ea typeface="JetBrains Mono" pitchFamily="49" charset="-122"/>
                <a:cs typeface="JetBrains Mono" pitchFamily="49" charset="-120"/>
              </a:rPr>
              <a:t>14 PUBLIC DOCUMENTS · 44 CHUNKS</a:t>
            </a:r>
            <a:endParaRPr lang="en-US" sz="1200" dirty="0"/>
          </a:p>
        </p:txBody>
      </p:sp>
      <p:sp>
        <p:nvSpPr>
          <p:cNvPr id="5" name="Shape 3"/>
          <p:cNvSpPr/>
          <p:nvPr/>
        </p:nvSpPr>
        <p:spPr>
          <a:xfrm>
            <a:off x="812800" y="2358231"/>
            <a:ext cx="6096000" cy="0"/>
          </a:xfrm>
          <a:prstGeom prst="line">
            <a:avLst/>
          </a:prstGeom>
          <a:noFill/>
          <a:ln w="12700">
            <a:solidFill>
              <a:srgbClr val="5E80BD"/>
            </a:solidFill>
            <a:prstDash val="solid"/>
          </a:ln>
        </p:spPr>
      </p:sp>
      <p:sp>
        <p:nvSpPr>
          <p:cNvPr id="6" name="Text 4"/>
          <p:cNvSpPr/>
          <p:nvPr/>
        </p:nvSpPr>
        <p:spPr>
          <a:xfrm>
            <a:off x="812800" y="2478881"/>
            <a:ext cx="245840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F1FF"/>
                </a:solidFill>
                <a:latin typeface="IBM Plex Sans" pitchFamily="34" charset="0"/>
                <a:ea typeface="IBM Plex Sans" pitchFamily="34" charset="-122"/>
                <a:cs typeface="IBM Plex Sans" pitchFamily="34" charset="-120"/>
              </a:rPr>
              <a:t>Atlas Search (full-text)</a:t>
            </a:r>
            <a:endParaRPr lang="en-US" sz="1600" dirty="0"/>
          </a:p>
        </p:txBody>
      </p:sp>
      <p:sp>
        <p:nvSpPr>
          <p:cNvPr id="7" name="Text 5"/>
          <p:cNvSpPr/>
          <p:nvPr/>
        </p:nvSpPr>
        <p:spPr>
          <a:xfrm>
            <a:off x="6526014" y="2478881"/>
            <a:ext cx="382786" cy="3098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2B33D"/>
                </a:solidFill>
                <a:latin typeface="IBM Plex Sans" pitchFamily="34" charset="0"/>
                <a:ea typeface="IBM Plex Sans" pitchFamily="34" charset="-122"/>
                <a:cs typeface="IBM Plex Sans" pitchFamily="34" charset="-120"/>
              </a:rPr>
              <a:t>LIVE</a:t>
            </a:r>
            <a:endParaRPr lang="en-US" sz="1200" dirty="0"/>
          </a:p>
        </p:txBody>
      </p:sp>
      <p:sp>
        <p:nvSpPr>
          <p:cNvPr id="8" name="Shape 6"/>
          <p:cNvSpPr/>
          <p:nvPr/>
        </p:nvSpPr>
        <p:spPr>
          <a:xfrm>
            <a:off x="812800" y="2883991"/>
            <a:ext cx="6096000" cy="0"/>
          </a:xfrm>
          <a:prstGeom prst="line">
            <a:avLst/>
          </a:prstGeom>
          <a:noFill/>
          <a:ln w="12700">
            <a:solidFill>
              <a:srgbClr val="5E80BD"/>
            </a:solidFill>
            <a:prstDash val="solid"/>
          </a:ln>
        </p:spPr>
      </p:sp>
      <p:sp>
        <p:nvSpPr>
          <p:cNvPr id="9" name="Text 7"/>
          <p:cNvSpPr/>
          <p:nvPr/>
        </p:nvSpPr>
        <p:spPr>
          <a:xfrm>
            <a:off x="812800" y="3004641"/>
            <a:ext cx="370248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F1FF"/>
                </a:solidFill>
                <a:latin typeface="IBM Plex Sans" pitchFamily="34" charset="0"/>
                <a:ea typeface="IBM Plex Sans" pitchFamily="34" charset="-122"/>
                <a:cs typeface="IBM Plex Sans" pitchFamily="34" charset="-120"/>
              </a:rPr>
              <a:t>Automated Embedding · Voyage 4</a:t>
            </a:r>
            <a:endParaRPr lang="en-US" sz="1600" dirty="0"/>
          </a:p>
        </p:txBody>
      </p:sp>
      <p:sp>
        <p:nvSpPr>
          <p:cNvPr id="10" name="Text 8"/>
          <p:cNvSpPr/>
          <p:nvPr/>
        </p:nvSpPr>
        <p:spPr>
          <a:xfrm>
            <a:off x="6526014" y="3004641"/>
            <a:ext cx="382786" cy="3098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2B33D"/>
                </a:solidFill>
                <a:latin typeface="IBM Plex Sans" pitchFamily="34" charset="0"/>
                <a:ea typeface="IBM Plex Sans" pitchFamily="34" charset="-122"/>
                <a:cs typeface="IBM Plex Sans" pitchFamily="34" charset="-120"/>
              </a:rPr>
              <a:t>LIVE</a:t>
            </a:r>
            <a:endParaRPr lang="en-US" sz="1200" dirty="0"/>
          </a:p>
        </p:txBody>
      </p:sp>
      <p:sp>
        <p:nvSpPr>
          <p:cNvPr id="11" name="Shape 9"/>
          <p:cNvSpPr/>
          <p:nvPr/>
        </p:nvSpPr>
        <p:spPr>
          <a:xfrm>
            <a:off x="812800" y="3409752"/>
            <a:ext cx="6096000" cy="0"/>
          </a:xfrm>
          <a:prstGeom prst="line">
            <a:avLst/>
          </a:prstGeom>
          <a:noFill/>
          <a:ln w="12700">
            <a:solidFill>
              <a:srgbClr val="5E80BD"/>
            </a:solidFill>
            <a:prstDash val="solid"/>
          </a:ln>
        </p:spPr>
      </p:sp>
      <p:sp>
        <p:nvSpPr>
          <p:cNvPr id="12" name="Text 10"/>
          <p:cNvSpPr/>
          <p:nvPr/>
        </p:nvSpPr>
        <p:spPr>
          <a:xfrm>
            <a:off x="812800" y="3530402"/>
            <a:ext cx="152114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F1FF"/>
                </a:solidFill>
                <a:latin typeface="IBM Plex Sans" pitchFamily="34" charset="0"/>
                <a:ea typeface="IBM Plex Sans" pitchFamily="34" charset="-122"/>
                <a:cs typeface="IBM Plex Sans" pitchFamily="34" charset="-120"/>
              </a:rPr>
              <a:t>Vector Search</a:t>
            </a:r>
            <a:endParaRPr lang="en-US" sz="1600" dirty="0"/>
          </a:p>
        </p:txBody>
      </p:sp>
      <p:sp>
        <p:nvSpPr>
          <p:cNvPr id="13" name="Text 11"/>
          <p:cNvSpPr/>
          <p:nvPr/>
        </p:nvSpPr>
        <p:spPr>
          <a:xfrm>
            <a:off x="6526014" y="3530402"/>
            <a:ext cx="382786" cy="3098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2B33D"/>
                </a:solidFill>
                <a:latin typeface="IBM Plex Sans" pitchFamily="34" charset="0"/>
                <a:ea typeface="IBM Plex Sans" pitchFamily="34" charset="-122"/>
                <a:cs typeface="IBM Plex Sans" pitchFamily="34" charset="-120"/>
              </a:rPr>
              <a:t>LIVE</a:t>
            </a:r>
            <a:endParaRPr lang="en-US" sz="1200" dirty="0"/>
          </a:p>
        </p:txBody>
      </p:sp>
      <p:sp>
        <p:nvSpPr>
          <p:cNvPr id="14" name="Shape 12"/>
          <p:cNvSpPr/>
          <p:nvPr/>
        </p:nvSpPr>
        <p:spPr>
          <a:xfrm>
            <a:off x="812800" y="3935512"/>
            <a:ext cx="6096000" cy="0"/>
          </a:xfrm>
          <a:prstGeom prst="line">
            <a:avLst/>
          </a:prstGeom>
          <a:noFill/>
          <a:ln w="12700">
            <a:solidFill>
              <a:srgbClr val="5E80BD"/>
            </a:solidFill>
            <a:prstDash val="solid"/>
          </a:ln>
        </p:spPr>
      </p:sp>
      <p:sp>
        <p:nvSpPr>
          <p:cNvPr id="15" name="Text 13"/>
          <p:cNvSpPr/>
          <p:nvPr/>
        </p:nvSpPr>
        <p:spPr>
          <a:xfrm>
            <a:off x="812800" y="4056162"/>
            <a:ext cx="31161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F1FF"/>
                </a:solidFill>
                <a:latin typeface="IBM Plex Sans" pitchFamily="34" charset="0"/>
                <a:ea typeface="IBM Plex Sans" pitchFamily="34" charset="-122"/>
                <a:cs typeface="IBM Plex Sans" pitchFamily="34" charset="-120"/>
              </a:rPr>
              <a:t>Hybrid Search ($rankFusion)</a:t>
            </a:r>
            <a:endParaRPr lang="en-US" sz="1600" dirty="0"/>
          </a:p>
        </p:txBody>
      </p:sp>
      <p:sp>
        <p:nvSpPr>
          <p:cNvPr id="16" name="Text 14"/>
          <p:cNvSpPr/>
          <p:nvPr/>
        </p:nvSpPr>
        <p:spPr>
          <a:xfrm>
            <a:off x="6526014" y="4056162"/>
            <a:ext cx="382786" cy="3098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2B33D"/>
                </a:solidFill>
                <a:latin typeface="IBM Plex Sans" pitchFamily="34" charset="0"/>
                <a:ea typeface="IBM Plex Sans" pitchFamily="34" charset="-122"/>
                <a:cs typeface="IBM Plex Sans" pitchFamily="34" charset="-120"/>
              </a:rPr>
              <a:t>LIVE</a:t>
            </a:r>
            <a:endParaRPr lang="en-US" sz="1200" dirty="0"/>
          </a:p>
        </p:txBody>
      </p:sp>
      <p:sp>
        <p:nvSpPr>
          <p:cNvPr id="17" name="Shape 15"/>
          <p:cNvSpPr/>
          <p:nvPr/>
        </p:nvSpPr>
        <p:spPr>
          <a:xfrm>
            <a:off x="812800" y="4461272"/>
            <a:ext cx="6096000" cy="0"/>
          </a:xfrm>
          <a:prstGeom prst="line">
            <a:avLst/>
          </a:prstGeom>
          <a:noFill/>
          <a:ln w="12700">
            <a:solidFill>
              <a:srgbClr val="5E80BD"/>
            </a:solidFill>
            <a:prstDash val="solid"/>
          </a:ln>
        </p:spPr>
      </p:sp>
      <p:sp>
        <p:nvSpPr>
          <p:cNvPr id="18" name="Shape 16"/>
          <p:cNvSpPr/>
          <p:nvPr/>
        </p:nvSpPr>
        <p:spPr>
          <a:xfrm>
            <a:off x="812800" y="4987032"/>
            <a:ext cx="6096000" cy="0"/>
          </a:xfrm>
          <a:prstGeom prst="line">
            <a:avLst/>
          </a:prstGeom>
          <a:noFill/>
          <a:ln w="12700">
            <a:solidFill>
              <a:srgbClr val="5E80BD"/>
            </a:solidFill>
            <a:prstDash val="solid"/>
          </a:ln>
        </p:spPr>
      </p:sp>
      <p:sp>
        <p:nvSpPr>
          <p:cNvPr id="19" name="Text 17"/>
          <p:cNvSpPr/>
          <p:nvPr/>
        </p:nvSpPr>
        <p:spPr>
          <a:xfrm>
            <a:off x="812800" y="4581922"/>
            <a:ext cx="203954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9F1FF"/>
                </a:solidFill>
                <a:latin typeface="IBM Plex Sans" pitchFamily="34" charset="0"/>
                <a:ea typeface="IBM Plex Sans" pitchFamily="34" charset="-122"/>
                <a:cs typeface="IBM Plex Sans" pitchFamily="34" charset="-120"/>
              </a:rPr>
              <a:t>Stream Processing</a:t>
            </a:r>
            <a:endParaRPr lang="en-US" sz="1600" dirty="0"/>
          </a:p>
        </p:txBody>
      </p:sp>
      <p:sp>
        <p:nvSpPr>
          <p:cNvPr id="20" name="Text 18"/>
          <p:cNvSpPr/>
          <p:nvPr/>
        </p:nvSpPr>
        <p:spPr>
          <a:xfrm>
            <a:off x="6097627" y="4581922"/>
            <a:ext cx="811173" cy="3098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2B33D"/>
                </a:solidFill>
                <a:latin typeface="IBM Plex Sans" pitchFamily="34" charset="0"/>
                <a:ea typeface="IBM Plex Sans" pitchFamily="34" charset="-122"/>
                <a:cs typeface="IBM Plex Sans" pitchFamily="34" charset="-120"/>
              </a:rPr>
              <a:t>LIVE</a:t>
            </a:r>
            <a:endParaRPr lang="en-US" sz="1200" dirty="0"/>
          </a:p>
        </p:txBody>
      </p:sp>
      <p:sp>
        <p:nvSpPr>
          <p:cNvPr id="21" name="Shape 19"/>
          <p:cNvSpPr/>
          <p:nvPr/>
        </p:nvSpPr>
        <p:spPr>
          <a:xfrm>
            <a:off x="7315200" y="2036961"/>
            <a:ext cx="4064000" cy="1366441"/>
          </a:xfrm>
          <a:prstGeom prst="rect">
            <a:avLst/>
          </a:prstGeom>
          <a:solidFill>
            <a:srgbClr val="173F80"/>
          </a:solidFill>
          <a:ln/>
        </p:spPr>
      </p:sp>
      <p:sp>
        <p:nvSpPr>
          <p:cNvPr id="22" name="Text 20"/>
          <p:cNvSpPr/>
          <p:nvPr/>
        </p:nvSpPr>
        <p:spPr>
          <a:xfrm>
            <a:off x="7518400" y="2240161"/>
            <a:ext cx="376732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B33D"/>
                </a:solidFill>
                <a:latin typeface="Oswald" pitchFamily="34" charset="0"/>
                <a:ea typeface="Oswald" pitchFamily="34" charset="-122"/>
                <a:cs typeface="Oswald" pitchFamily="34" charset="-120"/>
              </a:rPr>
              <a:t>12 / 12</a:t>
            </a:r>
            <a:endParaRPr lang="en-US" sz="3600" dirty="0"/>
          </a:p>
        </p:txBody>
      </p:sp>
      <p:sp>
        <p:nvSpPr>
          <p:cNvPr id="23" name="Text 21"/>
          <p:cNvSpPr/>
          <p:nvPr/>
        </p:nvSpPr>
        <p:spPr>
          <a:xfrm>
            <a:off x="7518400" y="2773561"/>
            <a:ext cx="37673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F1FF"/>
                </a:solidFill>
                <a:latin typeface="IBM Plex Sans" pitchFamily="34" charset="0"/>
                <a:ea typeface="IBM Plex Sans" pitchFamily="34" charset="-122"/>
                <a:cs typeface="IBM Plex Sans" pitchFamily="34" charset="-120"/>
              </a:rPr>
              <a:t>test questions where hybrid search ranks the expected document first (our questions, not blind)</a:t>
            </a:r>
            <a:endParaRPr lang="en-US" sz="1200" dirty="0"/>
          </a:p>
        </p:txBody>
      </p:sp>
      <p:sp>
        <p:nvSpPr>
          <p:cNvPr id="24" name="Shape 22"/>
          <p:cNvSpPr/>
          <p:nvPr/>
        </p:nvSpPr>
        <p:spPr>
          <a:xfrm>
            <a:off x="7321550" y="3562152"/>
            <a:ext cx="4051300" cy="1257102"/>
          </a:xfrm>
          <a:prstGeom prst="rect">
            <a:avLst/>
          </a:prstGeom>
          <a:noFill/>
          <a:ln w="12700">
            <a:solidFill>
              <a:srgbClr val="5E80BD"/>
            </a:solidFill>
            <a:prstDash val="solid"/>
          </a:ln>
        </p:spPr>
      </p:sp>
      <p:sp>
        <p:nvSpPr>
          <p:cNvPr id="25" name="Text 23"/>
          <p:cNvSpPr/>
          <p:nvPr/>
        </p:nvSpPr>
        <p:spPr>
          <a:xfrm>
            <a:off x="7531100" y="3771702"/>
            <a:ext cx="37411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Verifier canary (seeded claim)</a:t>
            </a:r>
            <a:endParaRPr lang="en-US" sz="1200" dirty="0"/>
          </a:p>
        </p:txBody>
      </p:sp>
      <p:sp>
        <p:nvSpPr>
          <p:cNvPr id="26" name="Text 24"/>
          <p:cNvSpPr/>
          <p:nvPr/>
        </p:nvSpPr>
        <p:spPr>
          <a:xfrm>
            <a:off x="7531100" y="4061222"/>
            <a:ext cx="3741166"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9F1FF"/>
                </a:solidFill>
                <a:latin typeface="IBM Plex Sans" pitchFamily="34" charset="0"/>
                <a:ea typeface="IBM Plex Sans" pitchFamily="34" charset="-122"/>
                <a:cs typeface="IBM Plex Sans" pitchFamily="34" charset="-120"/>
              </a:rPr>
              <a:t>“92.8 dB is TfL’s own data” → </a:t>
            </a:r>
            <a:r>
              <a:rPr lang="en-US" sz="1600" dirty="0">
                <a:solidFill>
                  <a:srgbClr val="F2B33D"/>
                </a:solidFill>
                <a:latin typeface="IBM Plex Sans" pitchFamily="34" charset="0"/>
                <a:ea typeface="IBM Plex Sans" pitchFamily="34" charset="-122"/>
                <a:cs typeface="IBM Plex Sans" pitchFamily="34" charset="-120"/>
              </a:rPr>
              <a:t>REJECTED</a:t>
            </a:r>
            <a:endParaRPr lang="en-US" sz="1600" dirty="0"/>
          </a:p>
        </p:txBody>
      </p:sp>
      <p:sp>
        <p:nvSpPr>
          <p:cNvPr id="27" name="Text 2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M10 · MongoDB 8.0 · eu-west-1 · only public text is embedded · investigator: 16 claims verified, 0 dropped</a:t>
            </a:r>
            <a:endParaRPr lang="en-US" sz="12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11 · MONGODB ATLAS, END TO END</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9F1FF"/>
                </a:solidFill>
                <a:latin typeface="Oswald" pitchFamily="34" charset="0"/>
                <a:ea typeface="Oswald" pitchFamily="34" charset="-122"/>
                <a:cs typeface="Oswald" pitchFamily="34" charset="-120"/>
              </a:rPr>
              <a:t>ONE CLUSTER, TWO PIPELINES</a:t>
            </a:r>
            <a:endParaRPr lang="en-US" sz="3600" dirty="0"/>
          </a:p>
        </p:txBody>
      </p:sp>
      <p:sp>
        <p:nvSpPr>
          <p:cNvPr id="27" name="Text 25"/>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Also in Atlas: hash-chained logs, claims, approvals, asks, roughness and rechecks · no raw rider data</a:t>
            </a:r>
            <a:endParaRPr lang="en-US" sz="12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12</a:t>
            </a:r>
            <a:endParaRPr lang="en-US" sz="1200" dirty="0"/>
          </a:p>
        </p:txBody>
      </p:sp>
      <p:sp>
        <p:nvSpPr>
          <p:cNvPr id="29" name="TextBox 28"/>
          <p:cNvSpPr txBox="1"/>
          <p:nvPr/>
        </p:nvSpPr>
        <p:spPr>
          <a:xfrm>
            <a:off x="813816" y="2057400"/>
            <a:ext cx="5486400" cy="274320"/>
          </a:xfrm>
          <a:prstGeom prst="rect">
            <a:avLst/>
          </a:prstGeom>
          <a:noFill/>
        </p:spPr>
        <p:txBody>
          <a:bodyPr wrap="square" anchor="t" lIns="0" rIns="0" tIns="0" bIns="0">
            <a:spAutoFit/>
          </a:bodyPr>
          <a:lstStyle/>
          <a:p>
            <a:pPr algn="l"/>
            <a:r>
              <a:rPr sz="1200" b="0">
                <a:solidFill>
                  <a:srgbClr val="A9C2EC"/>
                </a:solidFill>
                <a:latin typeface="JetBrains Mono"/>
              </a:rPr>
              <a:t>LIVE RIDE DATA</a:t>
            </a:r>
          </a:p>
        </p:txBody>
      </p:sp>
      <p:sp>
        <p:nvSpPr>
          <p:cNvPr id="30" name="Rounded Rectangle 29"/>
          <p:cNvSpPr/>
          <p:nvPr/>
        </p:nvSpPr>
        <p:spPr>
          <a:xfrm>
            <a:off x="813816" y="2404872"/>
            <a:ext cx="2377440" cy="1234440"/>
          </a:xfrm>
          <a:prstGeom prst="roundRect">
            <a:avLst>
              <a:gd name="adj" fmla="val 6000"/>
            </a:avLst>
          </a:prstGeom>
          <a:solidFill>
            <a:srgbClr val="17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 y="2532888"/>
            <a:ext cx="2048256" cy="365760"/>
          </a:xfrm>
          <a:prstGeom prst="rect">
            <a:avLst/>
          </a:prstGeom>
          <a:noFill/>
        </p:spPr>
        <p:txBody>
          <a:bodyPr wrap="square" anchor="t" lIns="0" rIns="0" tIns="0" bIns="0">
            <a:spAutoFit/>
          </a:bodyPr>
          <a:lstStyle/>
          <a:p>
            <a:pPr algn="l"/>
            <a:r>
              <a:rPr sz="1700" b="1">
                <a:solidFill>
                  <a:srgbClr val="E9F1FF"/>
                </a:solidFill>
                <a:latin typeface="Oswald"/>
              </a:rPr>
              <a:t>A ride</a:t>
            </a:r>
          </a:p>
        </p:txBody>
      </p:sp>
      <p:sp>
        <p:nvSpPr>
          <p:cNvPr id="32" name="TextBox 31"/>
          <p:cNvSpPr txBox="1"/>
          <p:nvPr/>
        </p:nvSpPr>
        <p:spPr>
          <a:xfrm>
            <a:off x="978408" y="2926080"/>
            <a:ext cx="2048256" cy="685800"/>
          </a:xfrm>
          <a:prstGeom prst="rect">
            <a:avLst/>
          </a:prstGeom>
          <a:noFill/>
        </p:spPr>
        <p:txBody>
          <a:bodyPr wrap="square" anchor="t" lIns="0" rIns="0" tIns="0" bIns="0">
            <a:spAutoFit/>
          </a:bodyPr>
          <a:lstStyle/>
          <a:p>
            <a:pPr algn="l"/>
            <a:r>
              <a:rPr sz="1100" b="0">
                <a:solidFill>
                  <a:srgbClr val="E9F1FF"/>
                </a:solidFill>
                <a:latin typeface="IBM Plex Sans"/>
              </a:rPr>
              <a:t>Replayed through the tracker now, or live from the phone (phyphox)</a:t>
            </a:r>
          </a:p>
        </p:txBody>
      </p:sp>
      <p:sp>
        <p:nvSpPr>
          <p:cNvPr id="33" name="Right Arrow 32"/>
          <p:cNvSpPr/>
          <p:nvPr/>
        </p:nvSpPr>
        <p:spPr>
          <a:xfrm>
            <a:off x="3209544" y="2880360"/>
            <a:ext cx="310896" cy="274320"/>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545128" y="2404872"/>
            <a:ext cx="2377440" cy="1234440"/>
          </a:xfrm>
          <a:prstGeom prst="roundRect">
            <a:avLst>
              <a:gd name="adj" fmla="val 6000"/>
            </a:avLst>
          </a:prstGeom>
          <a:solidFill>
            <a:srgbClr val="173F80"/>
          </a:solidFill>
          <a:ln w="19050">
            <a:solidFill>
              <a:srgbClr val="F2B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09720" y="2532888"/>
            <a:ext cx="2048256" cy="365760"/>
          </a:xfrm>
          <a:prstGeom prst="rect">
            <a:avLst/>
          </a:prstGeom>
          <a:noFill/>
        </p:spPr>
        <p:txBody>
          <a:bodyPr wrap="square" anchor="t" lIns="0" rIns="0" tIns="0" bIns="0">
            <a:spAutoFit/>
          </a:bodyPr>
          <a:lstStyle/>
          <a:p>
            <a:pPr algn="l"/>
            <a:r>
              <a:rPr sz="1700" b="1">
                <a:solidFill>
                  <a:srgbClr val="F2B33D"/>
                </a:solidFill>
                <a:latin typeface="Oswald"/>
              </a:rPr>
              <a:t>ingest_live</a:t>
            </a:r>
          </a:p>
        </p:txBody>
      </p:sp>
      <p:sp>
        <p:nvSpPr>
          <p:cNvPr id="36" name="TextBox 35"/>
          <p:cNvSpPr txBox="1"/>
          <p:nvPr/>
        </p:nvSpPr>
        <p:spPr>
          <a:xfrm>
            <a:off x="3709720" y="2926080"/>
            <a:ext cx="2048256" cy="685800"/>
          </a:xfrm>
          <a:prstGeom prst="rect">
            <a:avLst/>
          </a:prstGeom>
          <a:noFill/>
        </p:spPr>
        <p:txBody>
          <a:bodyPr wrap="square" anchor="t" lIns="0" rIns="0" tIns="0" bIns="0">
            <a:spAutoFit/>
          </a:bodyPr>
          <a:lstStyle/>
          <a:p>
            <a:pPr algn="l"/>
            <a:r>
              <a:rPr sz="1100" b="0">
                <a:solidFill>
                  <a:srgbClr val="E9F1FF"/>
                </a:solidFill>
                <a:latin typeface="IBM Plex Sans"/>
              </a:rPr>
              <a:t>One row per second, random trip id, no audio</a:t>
            </a:r>
          </a:p>
        </p:txBody>
      </p:sp>
      <p:sp>
        <p:nvSpPr>
          <p:cNvPr id="37" name="Right Arrow 36"/>
          <p:cNvSpPr/>
          <p:nvPr/>
        </p:nvSpPr>
        <p:spPr>
          <a:xfrm>
            <a:off x="5940856" y="2880360"/>
            <a:ext cx="310896" cy="274320"/>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76441" y="2404872"/>
            <a:ext cx="2377440" cy="1234440"/>
          </a:xfrm>
          <a:prstGeom prst="roundRect">
            <a:avLst>
              <a:gd name="adj" fmla="val 6000"/>
            </a:avLst>
          </a:prstGeom>
          <a:solidFill>
            <a:srgbClr val="173F80"/>
          </a:solidFill>
          <a:ln w="19050">
            <a:solidFill>
              <a:srgbClr val="F2B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1033" y="2532888"/>
            <a:ext cx="2048256" cy="365760"/>
          </a:xfrm>
          <a:prstGeom prst="rect">
            <a:avLst/>
          </a:prstGeom>
          <a:noFill/>
        </p:spPr>
        <p:txBody>
          <a:bodyPr wrap="square" anchor="t" lIns="0" rIns="0" tIns="0" bIns="0">
            <a:spAutoFit/>
          </a:bodyPr>
          <a:lstStyle/>
          <a:p>
            <a:pPr algn="l"/>
            <a:r>
              <a:rPr sz="1700" b="1">
                <a:solidFill>
                  <a:srgbClr val="F2B33D"/>
                </a:solidFill>
                <a:latin typeface="Oswald"/>
              </a:rPr>
              <a:t>Stream Processing</a:t>
            </a:r>
          </a:p>
        </p:txBody>
      </p:sp>
      <p:sp>
        <p:nvSpPr>
          <p:cNvPr id="40" name="TextBox 39"/>
          <p:cNvSpPr txBox="1"/>
          <p:nvPr/>
        </p:nvSpPr>
        <p:spPr>
          <a:xfrm>
            <a:off x="6441033" y="2926080"/>
            <a:ext cx="2048256" cy="685800"/>
          </a:xfrm>
          <a:prstGeom prst="rect">
            <a:avLst/>
          </a:prstGeom>
          <a:noFill/>
        </p:spPr>
        <p:txBody>
          <a:bodyPr wrap="square" anchor="t" lIns="0" rIns="0" tIns="0" bIns="0">
            <a:spAutoFit/>
          </a:bodyPr>
          <a:lstStyle/>
          <a:p>
            <a:pPr algn="l"/>
            <a:r>
              <a:rPr sz="1100" b="0">
                <a:solidFill>
                  <a:srgbClr val="E9F1FF"/>
                </a:solidFill>
                <a:latin typeface="IBM Plex Sans"/>
              </a:rPr>
              <a:t>10 s tumbling windows, SP2 processor</a:t>
            </a:r>
          </a:p>
        </p:txBody>
      </p:sp>
      <p:sp>
        <p:nvSpPr>
          <p:cNvPr id="41" name="Right Arrow 40"/>
          <p:cNvSpPr/>
          <p:nvPr/>
        </p:nvSpPr>
        <p:spPr>
          <a:xfrm>
            <a:off x="8672169" y="2880360"/>
            <a:ext cx="310896" cy="274320"/>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007754" y="2404872"/>
            <a:ext cx="2377440" cy="1234440"/>
          </a:xfrm>
          <a:prstGeom prst="roundRect">
            <a:avLst>
              <a:gd name="adj" fmla="val 6000"/>
            </a:avLst>
          </a:prstGeom>
          <a:solidFill>
            <a:srgbClr val="173F80"/>
          </a:solidFill>
          <a:ln w="19050">
            <a:solidFill>
              <a:srgbClr val="F2B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72346" y="2532888"/>
            <a:ext cx="2048256" cy="365760"/>
          </a:xfrm>
          <a:prstGeom prst="rect">
            <a:avLst/>
          </a:prstGeom>
          <a:noFill/>
        </p:spPr>
        <p:txBody>
          <a:bodyPr wrap="square" anchor="t" lIns="0" rIns="0" tIns="0" bIns="0">
            <a:spAutoFit/>
          </a:bodyPr>
          <a:lstStyle/>
          <a:p>
            <a:pPr algn="l"/>
            <a:r>
              <a:rPr sz="1700" b="1">
                <a:solidFill>
                  <a:srgbClr val="F2B33D"/>
                </a:solidFill>
                <a:latin typeface="Oswald"/>
              </a:rPr>
              <a:t>live_view</a:t>
            </a:r>
          </a:p>
        </p:txBody>
      </p:sp>
      <p:sp>
        <p:nvSpPr>
          <p:cNvPr id="44" name="TextBox 43"/>
          <p:cNvSpPr txBox="1"/>
          <p:nvPr/>
        </p:nvSpPr>
        <p:spPr>
          <a:xfrm>
            <a:off x="9172346" y="2926080"/>
            <a:ext cx="2048256" cy="685800"/>
          </a:xfrm>
          <a:prstGeom prst="rect">
            <a:avLst/>
          </a:prstGeom>
          <a:noFill/>
        </p:spPr>
        <p:txBody>
          <a:bodyPr wrap="square" anchor="t" lIns="0" rIns="0" tIns="0" bIns="0">
            <a:spAutoFit/>
          </a:bodyPr>
          <a:lstStyle/>
          <a:p>
            <a:pPr algn="l"/>
            <a:r>
              <a:rPr sz="1100" b="0">
                <a:solidFill>
                  <a:srgbClr val="E9F1FF"/>
                </a:solidFill>
                <a:latin typeface="IBM Plex Sans"/>
              </a:rPr>
              <a:t>Read by the web app as windows close</a:t>
            </a:r>
          </a:p>
        </p:txBody>
      </p:sp>
      <p:sp>
        <p:nvSpPr>
          <p:cNvPr id="45" name="TextBox 44"/>
          <p:cNvSpPr txBox="1"/>
          <p:nvPr/>
        </p:nvSpPr>
        <p:spPr>
          <a:xfrm>
            <a:off x="813816" y="3977639"/>
            <a:ext cx="5486400" cy="274320"/>
          </a:xfrm>
          <a:prstGeom prst="rect">
            <a:avLst/>
          </a:prstGeom>
          <a:noFill/>
        </p:spPr>
        <p:txBody>
          <a:bodyPr wrap="square" anchor="t" lIns="0" rIns="0" tIns="0" bIns="0">
            <a:spAutoFit/>
          </a:bodyPr>
          <a:lstStyle/>
          <a:p>
            <a:pPr algn="l"/>
            <a:r>
              <a:rPr sz="1200" b="0">
                <a:solidFill>
                  <a:srgbClr val="A9C2EC"/>
                </a:solidFill>
                <a:latin typeface="JetBrains Mono"/>
              </a:rPr>
              <a:t>INVESTIGATOR RETRIEVAL</a:t>
            </a:r>
          </a:p>
        </p:txBody>
      </p:sp>
      <p:sp>
        <p:nvSpPr>
          <p:cNvPr id="46" name="Rounded Rectangle 45"/>
          <p:cNvSpPr/>
          <p:nvPr/>
        </p:nvSpPr>
        <p:spPr>
          <a:xfrm>
            <a:off x="813816" y="4325112"/>
            <a:ext cx="2377440" cy="1234440"/>
          </a:xfrm>
          <a:prstGeom prst="roundRect">
            <a:avLst>
              <a:gd name="adj" fmla="val 6000"/>
            </a:avLst>
          </a:prstGeom>
          <a:solidFill>
            <a:srgbClr val="17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78408" y="4453127"/>
            <a:ext cx="2048256" cy="365760"/>
          </a:xfrm>
          <a:prstGeom prst="rect">
            <a:avLst/>
          </a:prstGeom>
          <a:noFill/>
        </p:spPr>
        <p:txBody>
          <a:bodyPr wrap="square" anchor="t" lIns="0" rIns="0" tIns="0" bIns="0">
            <a:spAutoFit/>
          </a:bodyPr>
          <a:lstStyle/>
          <a:p>
            <a:pPr algn="l"/>
            <a:r>
              <a:rPr sz="1700" b="1">
                <a:solidFill>
                  <a:srgbClr val="E9F1FF"/>
                </a:solidFill>
                <a:latin typeface="Oswald"/>
              </a:rPr>
              <a:t>Public records</a:t>
            </a:r>
          </a:p>
        </p:txBody>
      </p:sp>
      <p:sp>
        <p:nvSpPr>
          <p:cNvPr id="48" name="TextBox 47"/>
          <p:cNvSpPr txBox="1"/>
          <p:nvPr/>
        </p:nvSpPr>
        <p:spPr>
          <a:xfrm>
            <a:off x="978408" y="4846320"/>
            <a:ext cx="2048256" cy="685800"/>
          </a:xfrm>
          <a:prstGeom prst="rect">
            <a:avLst/>
          </a:prstGeom>
          <a:noFill/>
        </p:spPr>
        <p:txBody>
          <a:bodyPr wrap="square" anchor="t" lIns="0" rIns="0" tIns="0" bIns="0">
            <a:spAutoFit/>
          </a:bodyPr>
          <a:lstStyle/>
          <a:p>
            <a:pPr algn="l"/>
            <a:r>
              <a:rPr sz="1100" b="0">
                <a:solidFill>
                  <a:srgbClr val="E9F1FF"/>
                </a:solidFill>
                <a:latin typeface="IBM Plex Sans"/>
              </a:rPr>
              <a:t>14 TfL / GLA documents, 44 chunks</a:t>
            </a:r>
          </a:p>
        </p:txBody>
      </p:sp>
      <p:sp>
        <p:nvSpPr>
          <p:cNvPr id="49" name="Right Arrow 48"/>
          <p:cNvSpPr/>
          <p:nvPr/>
        </p:nvSpPr>
        <p:spPr>
          <a:xfrm>
            <a:off x="3209544" y="4800600"/>
            <a:ext cx="310896" cy="274320"/>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545128" y="4325112"/>
            <a:ext cx="2377440" cy="1234440"/>
          </a:xfrm>
          <a:prstGeom prst="roundRect">
            <a:avLst>
              <a:gd name="adj" fmla="val 6000"/>
            </a:avLst>
          </a:prstGeom>
          <a:solidFill>
            <a:srgbClr val="173F80"/>
          </a:solidFill>
          <a:ln w="19050">
            <a:solidFill>
              <a:srgbClr val="F2B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09720" y="4453127"/>
            <a:ext cx="2048256" cy="365760"/>
          </a:xfrm>
          <a:prstGeom prst="rect">
            <a:avLst/>
          </a:prstGeom>
          <a:noFill/>
        </p:spPr>
        <p:txBody>
          <a:bodyPr wrap="square" anchor="t" lIns="0" rIns="0" tIns="0" bIns="0">
            <a:spAutoFit/>
          </a:bodyPr>
          <a:lstStyle/>
          <a:p>
            <a:pPr algn="l"/>
            <a:r>
              <a:rPr sz="1700" b="1">
                <a:solidFill>
                  <a:srgbClr val="F2B33D"/>
                </a:solidFill>
                <a:latin typeface="Oswald"/>
              </a:rPr>
              <a:t>Search + Vector</a:t>
            </a:r>
          </a:p>
        </p:txBody>
      </p:sp>
      <p:sp>
        <p:nvSpPr>
          <p:cNvPr id="52" name="TextBox 51"/>
          <p:cNvSpPr txBox="1"/>
          <p:nvPr/>
        </p:nvSpPr>
        <p:spPr>
          <a:xfrm>
            <a:off x="3709720" y="4846320"/>
            <a:ext cx="2048256" cy="685800"/>
          </a:xfrm>
          <a:prstGeom prst="rect">
            <a:avLst/>
          </a:prstGeom>
          <a:noFill/>
        </p:spPr>
        <p:txBody>
          <a:bodyPr wrap="square" anchor="t" lIns="0" rIns="0" tIns="0" bIns="0">
            <a:spAutoFit/>
          </a:bodyPr>
          <a:lstStyle/>
          <a:p>
            <a:pPr algn="l"/>
            <a:r>
              <a:rPr sz="1100" b="0">
                <a:solidFill>
                  <a:srgbClr val="E9F1FF"/>
                </a:solidFill>
                <a:latin typeface="IBM Plex Sans"/>
              </a:rPr>
              <a:t>BM25 full text plus autoEmbed vectors (Voyage 4)</a:t>
            </a:r>
          </a:p>
        </p:txBody>
      </p:sp>
      <p:sp>
        <p:nvSpPr>
          <p:cNvPr id="53" name="Right Arrow 52"/>
          <p:cNvSpPr/>
          <p:nvPr/>
        </p:nvSpPr>
        <p:spPr>
          <a:xfrm>
            <a:off x="5940856" y="4800600"/>
            <a:ext cx="310896" cy="274320"/>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276441" y="4325112"/>
            <a:ext cx="2377440" cy="1234440"/>
          </a:xfrm>
          <a:prstGeom prst="roundRect">
            <a:avLst>
              <a:gd name="adj" fmla="val 6000"/>
            </a:avLst>
          </a:prstGeom>
          <a:solidFill>
            <a:srgbClr val="173F80"/>
          </a:solidFill>
          <a:ln w="19050">
            <a:solidFill>
              <a:srgbClr val="F2B3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41033" y="4453127"/>
            <a:ext cx="2048256" cy="365760"/>
          </a:xfrm>
          <a:prstGeom prst="rect">
            <a:avLst/>
          </a:prstGeom>
          <a:noFill/>
        </p:spPr>
        <p:txBody>
          <a:bodyPr wrap="square" anchor="t" lIns="0" rIns="0" tIns="0" bIns="0">
            <a:spAutoFit/>
          </a:bodyPr>
          <a:lstStyle/>
          <a:p>
            <a:pPr algn="l"/>
            <a:r>
              <a:rPr sz="1700" b="1">
                <a:solidFill>
                  <a:srgbClr val="F2B33D"/>
                </a:solidFill>
                <a:latin typeface="Oswald"/>
              </a:rPr>
              <a:t>Hybrid</a:t>
            </a:r>
          </a:p>
        </p:txBody>
      </p:sp>
      <p:sp>
        <p:nvSpPr>
          <p:cNvPr id="56" name="TextBox 55"/>
          <p:cNvSpPr txBox="1"/>
          <p:nvPr/>
        </p:nvSpPr>
        <p:spPr>
          <a:xfrm>
            <a:off x="6441033" y="4846320"/>
            <a:ext cx="2048256" cy="685800"/>
          </a:xfrm>
          <a:prstGeom prst="rect">
            <a:avLst/>
          </a:prstGeom>
          <a:noFill/>
        </p:spPr>
        <p:txBody>
          <a:bodyPr wrap="square" anchor="t" lIns="0" rIns="0" tIns="0" bIns="0">
            <a:spAutoFit/>
          </a:bodyPr>
          <a:lstStyle/>
          <a:p>
            <a:pPr algn="l"/>
            <a:r>
              <a:rPr sz="1100" b="0">
                <a:solidFill>
                  <a:srgbClr val="E9F1FF"/>
                </a:solidFill>
                <a:latin typeface="IBM Plex Sans"/>
              </a:rPr>
              <a:t>$rankFusion of both rankings</a:t>
            </a:r>
          </a:p>
        </p:txBody>
      </p:sp>
      <p:sp>
        <p:nvSpPr>
          <p:cNvPr id="57" name="Right Arrow 56"/>
          <p:cNvSpPr/>
          <p:nvPr/>
        </p:nvSpPr>
        <p:spPr>
          <a:xfrm>
            <a:off x="8672169" y="4800600"/>
            <a:ext cx="310896" cy="274320"/>
          </a:xfrm>
          <a:prstGeom prst="rightArrow">
            <a:avLst/>
          </a:prstGeom>
          <a:solidFill>
            <a:srgbClr val="F2B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007754" y="4325112"/>
            <a:ext cx="2377440" cy="1234440"/>
          </a:xfrm>
          <a:prstGeom prst="roundRect">
            <a:avLst>
              <a:gd name="adj" fmla="val 6000"/>
            </a:avLst>
          </a:prstGeom>
          <a:solidFill>
            <a:srgbClr val="173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72346" y="4453127"/>
            <a:ext cx="2048256" cy="365760"/>
          </a:xfrm>
          <a:prstGeom prst="rect">
            <a:avLst/>
          </a:prstGeom>
          <a:noFill/>
        </p:spPr>
        <p:txBody>
          <a:bodyPr wrap="square" anchor="t" lIns="0" rIns="0" tIns="0" bIns="0">
            <a:spAutoFit/>
          </a:bodyPr>
          <a:lstStyle/>
          <a:p>
            <a:pPr algn="l"/>
            <a:r>
              <a:rPr sz="1700" b="1">
                <a:solidFill>
                  <a:srgbClr val="E9F1FF"/>
                </a:solidFill>
                <a:latin typeface="Oswald"/>
              </a:rPr>
              <a:t>Gemini 4 Argon</a:t>
            </a:r>
          </a:p>
        </p:txBody>
      </p:sp>
      <p:sp>
        <p:nvSpPr>
          <p:cNvPr id="60" name="TextBox 59"/>
          <p:cNvSpPr txBox="1"/>
          <p:nvPr/>
        </p:nvSpPr>
        <p:spPr>
          <a:xfrm>
            <a:off x="9172346" y="4846320"/>
            <a:ext cx="2048256" cy="685800"/>
          </a:xfrm>
          <a:prstGeom prst="rect">
            <a:avLst/>
          </a:prstGeom>
          <a:noFill/>
        </p:spPr>
        <p:txBody>
          <a:bodyPr wrap="square" anchor="t" lIns="0" rIns="0" tIns="0" bIns="0">
            <a:spAutoFit/>
          </a:bodyPr>
          <a:lstStyle/>
          <a:p>
            <a:pPr algn="l"/>
            <a:r>
              <a:rPr sz="1100" b="0">
                <a:solidFill>
                  <a:srgbClr val="E9F1FF"/>
                </a:solidFill>
                <a:latin typeface="IBM Plex Sans"/>
              </a:rPr>
              <a:t>Cited claims, then the deterministic verifier</a:t>
            </a:r>
          </a:p>
        </p:txBody>
      </p:sp>
      <p:sp>
        <p:nvSpPr>
          <p:cNvPr id="61" name="TextBox 60"/>
          <p:cNvSpPr txBox="1"/>
          <p:nvPr/>
        </p:nvSpPr>
        <p:spPr>
          <a:xfrm>
            <a:off x="7863840" y="1371600"/>
            <a:ext cx="3520440" cy="274320"/>
          </a:xfrm>
          <a:prstGeom prst="rect">
            <a:avLst/>
          </a:prstGeom>
          <a:noFill/>
        </p:spPr>
        <p:txBody>
          <a:bodyPr wrap="square" anchor="t" lIns="0" rIns="0" tIns="0" bIns="0">
            <a:spAutoFit/>
          </a:bodyPr>
          <a:lstStyle/>
          <a:p>
            <a:pPr algn="r"/>
            <a:r>
              <a:rPr sz="1100" b="0">
                <a:solidFill>
                  <a:srgbClr val="A9C2EC"/>
                </a:solidFill>
                <a:latin typeface="IBM Plex Sans"/>
              </a:rPr>
              <a:t>amber outline = runs in Atlas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F4C95"/>
                </a:solidFill>
                <a:latin typeface="JetBrains Mono" pitchFamily="49" charset="0"/>
                <a:ea typeface="JetBrains Mono" pitchFamily="49" charset="-122"/>
                <a:cs typeface="JetBrains Mono" pitchFamily="49" charset="-120"/>
              </a:rPr>
              <a:t>12 · WHERE THE HUMAN APPROVES</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E68"/>
                </a:solidFill>
                <a:latin typeface="Oswald" pitchFamily="34" charset="0"/>
                <a:ea typeface="Oswald" pitchFamily="34" charset="-122"/>
                <a:cs typeface="Oswald" pitchFamily="34" charset="-120"/>
              </a:rPr>
              <a:t>NOTHING IS SENT AUTOMATICALLY</a:t>
            </a:r>
            <a:endParaRPr lang="en-US" sz="3600" dirty="0"/>
          </a:p>
        </p:txBody>
      </p:sp>
      <p:sp>
        <p:nvSpPr>
          <p:cNvPr id="17" name="Shape 10"/>
          <p:cNvSpPr/>
          <p:nvPr/>
        </p:nvSpPr>
        <p:spPr>
          <a:xfrm>
            <a:off x="7823200" y="2043311"/>
            <a:ext cx="3556000" cy="0"/>
          </a:xfrm>
          <a:prstGeom prst="line">
            <a:avLst/>
          </a:prstGeom>
          <a:noFill/>
          <a:ln w="12700">
            <a:solidFill>
              <a:srgbClr val="1F4C95"/>
            </a:solidFill>
            <a:prstDash val="solid"/>
          </a:ln>
        </p:spPr>
        <p:txBody>
          <a:bodyPr/>
          <a:p/>
        </p:txBody>
      </p:sp>
      <p:sp>
        <p:nvSpPr>
          <p:cNvPr id="18" name="Text 11"/>
          <p:cNvSpPr/>
          <p:nvPr/>
        </p:nvSpPr>
        <p:spPr>
          <a:xfrm>
            <a:off x="7823200" y="2202061"/>
            <a:ext cx="36626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2E68"/>
                </a:solidFill>
                <a:latin typeface="Oswald" pitchFamily="34" charset="0"/>
                <a:ea typeface="Oswald" pitchFamily="34" charset="-122"/>
                <a:cs typeface="Oswald" pitchFamily="34" charset="-120"/>
              </a:rPr>
              <a:t>RE-VERIFY</a:t>
            </a:r>
            <a:endParaRPr lang="en-US" sz="2200" dirty="0"/>
          </a:p>
        </p:txBody>
      </p:sp>
      <p:sp>
        <p:nvSpPr>
          <p:cNvPr id="19" name="Text 12"/>
          <p:cNvSpPr/>
          <p:nvPr/>
        </p:nvSpPr>
        <p:spPr>
          <a:xfrm>
            <a:off x="7823200" y="264398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The verifier runs again at the moment of approval.</a:t>
            </a:r>
            <a:endParaRPr lang="en-US" sz="1200" dirty="0"/>
          </a:p>
        </p:txBody>
      </p:sp>
      <p:sp>
        <p:nvSpPr>
          <p:cNvPr id="20" name="Shape 13"/>
          <p:cNvSpPr/>
          <p:nvPr/>
        </p:nvSpPr>
        <p:spPr>
          <a:xfrm>
            <a:off x="7823200" y="3168452"/>
            <a:ext cx="3556000" cy="0"/>
          </a:xfrm>
          <a:prstGeom prst="line">
            <a:avLst/>
          </a:prstGeom>
          <a:noFill/>
          <a:ln w="12700">
            <a:solidFill>
              <a:srgbClr val="1F4C95"/>
            </a:solidFill>
            <a:prstDash val="solid"/>
          </a:ln>
        </p:spPr>
        <p:txBody>
          <a:bodyPr/>
          <a:p/>
        </p:txBody>
      </p:sp>
      <p:sp>
        <p:nvSpPr>
          <p:cNvPr id="21" name="Text 14"/>
          <p:cNvSpPr/>
          <p:nvPr/>
        </p:nvSpPr>
        <p:spPr>
          <a:xfrm>
            <a:off x="7823200" y="3327202"/>
            <a:ext cx="36626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2E68"/>
                </a:solidFill>
                <a:latin typeface="Oswald" pitchFamily="34" charset="0"/>
                <a:ea typeface="Oswald" pitchFamily="34" charset="-122"/>
                <a:cs typeface="Oswald" pitchFamily="34" charset="-120"/>
              </a:rPr>
              <a:t>SIGN</a:t>
            </a:r>
            <a:endParaRPr lang="en-US" sz="2200" dirty="0"/>
          </a:p>
        </p:txBody>
      </p:sp>
      <p:sp>
        <p:nvSpPr>
          <p:cNvPr id="22" name="Text 15"/>
          <p:cNvSpPr/>
          <p:nvPr/>
        </p:nvSpPr>
        <p:spPr>
          <a:xfrm>
            <a:off x="7823200" y="3769122"/>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SHA-256 over pack, approver, time and verifier version.</a:t>
            </a:r>
            <a:endParaRPr lang="en-US" sz="1200" dirty="0"/>
          </a:p>
        </p:txBody>
      </p:sp>
      <p:sp>
        <p:nvSpPr>
          <p:cNvPr id="23" name="Shape 16"/>
          <p:cNvSpPr/>
          <p:nvPr/>
        </p:nvSpPr>
        <p:spPr>
          <a:xfrm>
            <a:off x="7823200" y="4506913"/>
            <a:ext cx="3556000" cy="0"/>
          </a:xfrm>
          <a:prstGeom prst="line">
            <a:avLst/>
          </a:prstGeom>
          <a:noFill/>
          <a:ln w="12700">
            <a:solidFill>
              <a:srgbClr val="1F4C95"/>
            </a:solidFill>
            <a:prstDash val="solid"/>
          </a:ln>
        </p:spPr>
        <p:txBody>
          <a:bodyPr/>
          <a:p/>
        </p:txBody>
      </p:sp>
      <p:sp>
        <p:nvSpPr>
          <p:cNvPr id="24" name="Shape 17"/>
          <p:cNvSpPr/>
          <p:nvPr/>
        </p:nvSpPr>
        <p:spPr>
          <a:xfrm>
            <a:off x="7823200" y="5692973"/>
            <a:ext cx="3556000" cy="0"/>
          </a:xfrm>
          <a:prstGeom prst="line">
            <a:avLst/>
          </a:prstGeom>
          <a:noFill/>
          <a:ln w="12700">
            <a:solidFill>
              <a:srgbClr val="1F4C95"/>
            </a:solidFill>
            <a:prstDash val="solid"/>
          </a:ln>
        </p:spPr>
        <p:txBody>
          <a:bodyPr/>
          <a:p/>
        </p:txBody>
      </p:sp>
      <p:sp>
        <p:nvSpPr>
          <p:cNvPr id="25" name="Text 18"/>
          <p:cNvSpPr/>
          <p:nvPr/>
        </p:nvSpPr>
        <p:spPr>
          <a:xfrm>
            <a:off x="7823200" y="4665663"/>
            <a:ext cx="366268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E2E68"/>
                </a:solidFill>
                <a:latin typeface="Oswald" pitchFamily="34" charset="0"/>
                <a:ea typeface="Oswald" pitchFamily="34" charset="-122"/>
                <a:cs typeface="Oswald" pitchFamily="34" charset="-120"/>
              </a:rPr>
              <a:t>RECORD</a:t>
            </a:r>
            <a:endParaRPr lang="en-US" sz="2200" dirty="0"/>
          </a:p>
        </p:txBody>
      </p:sp>
      <p:sp>
        <p:nvSpPr>
          <p:cNvPr id="26" name="Text 19"/>
          <p:cNvSpPr/>
          <p:nvPr/>
        </p:nvSpPr>
        <p:spPr>
          <a:xfrm>
            <a:off x="7823200" y="5107583"/>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IBM Plex Sans" pitchFamily="34" charset="0"/>
                <a:ea typeface="IBM Plex Sans" pitchFamily="34" charset="-122"/>
                <a:cs typeface="IBM Plex Sans" pitchFamily="34" charset="-120"/>
              </a:rPr>
              <a:t>Written to Atlas </a:t>
            </a:r>
            <a:r>
              <a:rPr lang="en-US" sz="1200" i="1" dirty="0">
                <a:solidFill>
                  <a:srgbClr val="3A4A6B"/>
                </a:solidFill>
                <a:latin typeface="IBM Plex Sans" pitchFamily="34" charset="0"/>
                <a:ea typeface="IBM Plex Sans" pitchFamily="34" charset="-122"/>
                <a:cs typeface="IBM Plex Sans" pitchFamily="34" charset="-120"/>
              </a:rPr>
              <a:t>approvals</a:t>
            </a:r>
            <a:r>
              <a:rPr lang="en-US" sz="1200" dirty="0">
                <a:solidFill>
                  <a:srgbClr val="3A4A6B"/>
                </a:solidFill>
                <a:latin typeface="IBM Plex Sans" pitchFamily="34" charset="0"/>
                <a:ea typeface="IBM Plex Sans" pitchFamily="34" charset="-122"/>
                <a:cs typeface="IBM Plex Sans" pitchFamily="34" charset="-120"/>
              </a:rPr>
              <a:t>; rejections are kept with a reason.</a:t>
            </a:r>
            <a:endParaRPr lang="en-US" sz="1200" dirty="0"/>
          </a:p>
        </p:txBody>
      </p:sp>
      <p:sp>
        <p:nvSpPr>
          <p:cNvPr id="27" name="Text 2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Web app Evidence pack page · agent/approve.py · pack 8d251cb4c2ebfb3c, 16 verified claims</a:t>
            </a:r>
            <a:endParaRPr lang="en-US" sz="1200" dirty="0"/>
          </a:p>
        </p:txBody>
      </p:sp>
      <p:sp>
        <p:nvSpPr>
          <p:cNvPr id="28"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13</a:t>
            </a:r>
            <a:endParaRPr lang="en-US" sz="1200" dirty="0"/>
          </a:p>
        </p:txBody>
      </p:sp>
      <p:pic>
        <p:nvPicPr>
          <p:cNvPr id="29" name="Picture 28" descr="approval_crop.png"/>
          <p:cNvPicPr>
            <a:picLocks noChangeAspect="1"/>
          </p:cNvPicPr>
          <p:nvPr/>
        </p:nvPicPr>
        <p:blipFill>
          <a:blip r:embed="rId8"/>
          <a:stretch>
            <a:fillRect/>
          </a:stretch>
        </p:blipFill>
        <p:spPr>
          <a:xfrm>
            <a:off x="813816" y="2039112"/>
            <a:ext cx="6601968" cy="3756641"/>
          </a:xfrm>
          <a:prstGeom prst="rect">
            <a:avLst/>
          </a:prstGeom>
          <a:ln w="12700">
            <a:solidFill>
              <a:srgbClr val="C9D6EE"/>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13 · MESSY INPUTS, HANDLED RESPONSIBLY</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9F1FF"/>
                </a:solidFill>
                <a:latin typeface="Oswald" pitchFamily="34" charset="0"/>
                <a:ea typeface="Oswald" pitchFamily="34" charset="-122"/>
                <a:cs typeface="Oswald" pitchFamily="34" charset="-120"/>
              </a:rPr>
              <a:t>REAL RIDES ARE MESSY. PRIVACY IS NOT OPTIONAL.</a:t>
            </a:r>
            <a:endParaRPr lang="en-US" sz="3600" dirty="0"/>
          </a:p>
        </p:txBody>
      </p:sp>
      <p:sp>
        <p:nvSpPr>
          <p:cNvPr id="4" name="Text 2"/>
          <p:cNvSpPr/>
          <p:nvPr/>
        </p:nvSpPr>
        <p:spPr>
          <a:xfrm>
            <a:off x="812800" y="2036961"/>
            <a:ext cx="501656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C2EC"/>
                </a:solidFill>
                <a:latin typeface="JetBrains Mono" pitchFamily="49" charset="0"/>
                <a:ea typeface="JetBrains Mono" pitchFamily="49" charset="-122"/>
                <a:cs typeface="JetBrains Mono" pitchFamily="49" charset="-120"/>
              </a:rPr>
              <a:t>DETECTED FROM THE DATA, NOT HAND-CODED</a:t>
            </a:r>
            <a:endParaRPr lang="en-US" sz="1200" dirty="0"/>
          </a:p>
        </p:txBody>
      </p:sp>
      <p:sp>
        <p:nvSpPr>
          <p:cNvPr id="5" name="Text 3"/>
          <p:cNvSpPr/>
          <p:nvPr/>
        </p:nvSpPr>
        <p:spPr>
          <a:xfrm>
            <a:off x="891032" y="2377281"/>
            <a:ext cx="4930711" cy="182979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A phone on the floor, from its tilt and vibration</a:t>
            </a:r>
            <a:endParaRPr lang="en-US" sz="1400" dirty="0"/>
          </a:p>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Two app pauses, recovered from phyphox’s event log</a:t>
            </a:r>
            <a:endParaRPr lang="en-US" sz="1400" dirty="0"/>
          </a:p>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A trip split across two files after a wrong stop</a:t>
            </a:r>
            <a:endParaRPr lang="en-US" sz="1400" dirty="0"/>
          </a:p>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Calibrated vs raw magnetometer (it reversed our own notes)</a:t>
            </a:r>
            <a:endParaRPr lang="en-US" sz="1400" dirty="0"/>
          </a:p>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Silent sync taps, so it falls back to matching vibration to sound</a:t>
            </a:r>
            <a:endParaRPr lang="en-US" sz="1400" dirty="0"/>
          </a:p>
        </p:txBody>
      </p:sp>
      <p:sp>
        <p:nvSpPr>
          <p:cNvPr id="6" name="Shape 4"/>
          <p:cNvSpPr/>
          <p:nvPr/>
        </p:nvSpPr>
        <p:spPr>
          <a:xfrm>
            <a:off x="6096000" y="2036961"/>
            <a:ext cx="0" cy="3805039"/>
          </a:xfrm>
          <a:prstGeom prst="line">
            <a:avLst/>
          </a:prstGeom>
          <a:noFill/>
          <a:ln w="12700">
            <a:solidFill>
              <a:srgbClr val="5E80BD"/>
            </a:solidFill>
            <a:prstDash val="solid"/>
          </a:ln>
        </p:spPr>
        <p:txBody>
          <a:bodyPr/>
          <a:p/>
        </p:txBody>
      </p:sp>
      <p:sp>
        <p:nvSpPr>
          <p:cNvPr id="7" name="Text 5"/>
          <p:cNvSpPr/>
          <p:nvPr/>
        </p:nvSpPr>
        <p:spPr>
          <a:xfrm>
            <a:off x="6508750" y="2036961"/>
            <a:ext cx="501656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9C2EC"/>
                </a:solidFill>
                <a:latin typeface="JetBrains Mono" pitchFamily="49" charset="0"/>
                <a:ea typeface="JetBrains Mono" pitchFamily="49" charset="-122"/>
                <a:cs typeface="JetBrains Mono" pitchFamily="49" charset="-120"/>
              </a:rPr>
              <a:t>PRIVACY BY DESIGN</a:t>
            </a:r>
            <a:endParaRPr lang="en-US" sz="1200" dirty="0"/>
          </a:p>
        </p:txBody>
      </p:sp>
      <p:sp>
        <p:nvSpPr>
          <p:cNvPr id="8" name="Text 6"/>
          <p:cNvSpPr/>
          <p:nvPr/>
        </p:nvSpPr>
        <p:spPr>
          <a:xfrm>
            <a:off x="6586982" y="2377281"/>
            <a:ext cx="4930711" cy="131425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Audio is decoded in memory and never written to disk</a:t>
            </a:r>
            <a:endParaRPr lang="en-US" sz="1400" dirty="0"/>
          </a:p>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Only 1-second levels and third-octave bands are kept</a:t>
            </a:r>
            <a:endParaRPr lang="en-US" sz="1400" dirty="0"/>
          </a:p>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Gemini sees public documents and summary statistics only</a:t>
            </a:r>
            <a:endParaRPr lang="en-US" sz="1400" dirty="0"/>
          </a:p>
          <a:p>
            <a:pPr algn="l" marL="175768" indent="-175768">
              <a:lnSpc>
                <a:spcPts val="2030"/>
              </a:lnSpc>
              <a:buSzPct val="100000"/>
              <a:buChar char="•"/>
            </a:pPr>
            <a:r>
              <a:rPr lang="en-US" sz="1400" dirty="0">
                <a:solidFill>
                  <a:srgbClr val="E9F1FF"/>
                </a:solidFill>
                <a:latin typeface="IBM Plex Sans" pitchFamily="34" charset="0"/>
                <a:ea typeface="IBM Plex Sans" pitchFamily="34" charset="-122"/>
                <a:cs typeface="IBM Plex Sans" pitchFamily="34" charset="-120"/>
              </a:rPr>
              <a:t>Raw recordings deleted on 1 Nov 2026</a:t>
            </a:r>
            <a:endParaRPr lang="en-US" sz="1400" dirty="0"/>
          </a:p>
        </p:txBody>
      </p:sp>
      <p:sp>
        <p:nvSpPr>
          <p:cNvPr id="9" name="Shape 7"/>
          <p:cNvSpPr/>
          <p:nvPr/>
        </p:nvSpPr>
        <p:spPr>
          <a:xfrm>
            <a:off x="6527800" y="3793133"/>
            <a:ext cx="0" cy="497681"/>
          </a:xfrm>
          <a:prstGeom prst="line">
            <a:avLst/>
          </a:prstGeom>
          <a:noFill/>
          <a:ln w="38100">
            <a:solidFill>
              <a:srgbClr val="F2B33D"/>
            </a:solidFill>
            <a:prstDash val="solid"/>
          </a:ln>
        </p:spPr>
        <p:txBody>
          <a:bodyPr/>
          <a:p/>
        </p:txBody>
      </p:sp>
      <p:sp>
        <p:nvSpPr>
          <p:cNvPr id="10" name="Text 8"/>
          <p:cNvSpPr/>
          <p:nvPr/>
        </p:nvSpPr>
        <p:spPr>
          <a:xfrm>
            <a:off x="6699250" y="3793133"/>
            <a:ext cx="482034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B33D"/>
                </a:solidFill>
                <a:latin typeface="IBM Plex Sans" pitchFamily="34" charset="0"/>
                <a:ea typeface="IBM Plex Sans" pitchFamily="34" charset="-122"/>
                <a:cs typeface="IBM Plex Sans" pitchFamily="34" charset="-120"/>
              </a:rPr>
              <a:t>The ICO calls recording conversations “highly intrusive”, so we keep no audio at all.</a:t>
            </a:r>
            <a:endParaRPr lang="en-US" sz="1400" dirty="0"/>
          </a:p>
        </p:txBody>
      </p:sp>
      <p:sp>
        <p:nvSpPr>
          <p:cNvPr id="11" name="Text 9"/>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outputs/qc.json · docs/PRIVACY.md</a:t>
            </a:r>
            <a:endParaRPr lang="en-US" sz="1200" dirty="0"/>
          </a:p>
        </p:txBody>
      </p:sp>
      <p:sp>
        <p:nvSpPr>
          <p:cNvPr id="12"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123874"/>
        </a:solidFill>
      </p:bgPr>
    </p:bg>
    <p:spTree>
      <p:nvGrpSpPr>
        <p:cNvPr id="1" name=""/>
        <p:cNvGrpSpPr/>
        <p:nvPr/>
      </p:nvGrpSpPr>
      <p:grpSpPr>
        <a:xfrm>
          <a:off x="0" y="0"/>
          <a:ext cx="0" cy="0"/>
          <a:chOff x="0" y="0"/>
          <a:chExt cx="0" cy="0"/>
        </a:xfrm>
      </p:grpSpPr>
      <p:pic>
        <p:nvPicPr>
          <p:cNvPr id="2" name="Image 0" descr="Exploded isometric blueprint of the Tubesense Research Box v2: a vented enclosure holding a Raspberry Pi 5, sensor hub, isolated IMU, MEMS microphones, barometer, radar and GNSS, with three magnetometer pods on a carbon boom">    </p:cNvPr>
          <p:cNvPicPr>
            <a:picLocks noChangeAspect="1"/>
          </p:cNvPicPr>
          <p:nvPr/>
        </p:nvPicPr>
        <p:blipFill>
          <a:blip r:embed="rId1"/>
          <a:srcRect l="0" r="0" t="2961" b="2961"/>
          <a:stretch/>
        </p:blipFill>
        <p:spPr>
          <a:xfrm>
            <a:off x="0" y="0"/>
            <a:ext cx="12192000" cy="6858000"/>
          </a:xfrm>
          <a:prstGeom prst="rect">
            <a:avLst/>
          </a:prstGeom>
        </p:spPr>
      </p:pic>
      <p:sp>
        <p:nvSpPr>
          <p:cNvPr id="3" name="Text 0"/>
          <p:cNvSpPr/>
          <p:nvPr/>
        </p:nvSpPr>
        <p:spPr>
          <a:xfrm>
            <a:off x="812800" y="51714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14 · WHERE IT COULD GO</a:t>
            </a:r>
            <a:endParaRPr lang="en-US" sz="1200" dirty="0"/>
          </a:p>
        </p:txBody>
      </p:sp>
      <p:sp>
        <p:nvSpPr>
          <p:cNvPr id="4" name="Text 1"/>
          <p:cNvSpPr/>
          <p:nvPr>
            <p:ph type="title"/>
          </p:nvPr>
        </p:nvSpPr>
        <p:spPr>
          <a:xfrm>
            <a:off x="812800" y="5486400"/>
            <a:ext cx="6540500"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E9F1FF"/>
                </a:solidFill>
                <a:latin typeface="Oswald" pitchFamily="34" charset="0"/>
                <a:ea typeface="Oswald" pitchFamily="34" charset="-122"/>
                <a:cs typeface="Oswald" pitchFamily="34" charset="-120"/>
              </a:rPr>
              <a:t>RESEARCH BOX V2</a:t>
            </a:r>
            <a:endParaRPr lang="en-US" sz="6000" dirty="0"/>
          </a:p>
        </p:txBody>
      </p:sp>
      <p:sp>
        <p:nvSpPr>
          <p:cNvPr id="5" name="Text 2"/>
          <p:cNvSpPr/>
          <p:nvPr/>
        </p:nvSpPr>
        <p:spPr>
          <a:xfrm>
            <a:off x="8718550" y="5863630"/>
            <a:ext cx="2654300" cy="378420"/>
          </a:xfrm>
          <a:prstGeom prst="rect">
            <a:avLst/>
          </a:prstGeom>
          <a:solidFill>
            <a:srgbClr val="123874"/>
          </a:solidFill>
          <a:ln w="12700">
            <a:solidFill>
              <a:srgbClr val="F2B33D"/>
            </a:solidFill>
            <a:prstDash val="solid"/>
          </a:ln>
        </p:spPr>
        <p:txBody>
          <a:bodyPr wrap="square" lIns="71374" tIns="82550" rIns="71374" bIns="57150" rtlCol="0" anchor="t">
            <a:normAutofit/>
          </a:bodyPr>
          <a:lstStyle/>
          <a:p>
            <a:pPr algn="ctr" indent="0" marL="0">
              <a:lnSpc>
                <a:spcPts val="1680"/>
              </a:lnSpc>
              <a:buNone/>
            </a:pPr>
            <a:r>
              <a:rPr lang="en-US" sz="1200" spc="150" kern="0" dirty="0">
                <a:solidFill>
                  <a:srgbClr val="F2B33D"/>
                </a:solidFill>
                <a:latin typeface="JetBrains Mono" pitchFamily="49" charset="0"/>
                <a:ea typeface="JetBrains Mono" pitchFamily="49" charset="-122"/>
                <a:cs typeface="JetBrains Mono" pitchFamily="49" charset="-120"/>
              </a:rPr>
              <a:t>CONCEPT · NOT BUILT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EEF3FB"/>
        </a:solidFill>
      </p:bgPr>
    </p:bg>
    <p:spTree>
      <p:nvGrpSpPr>
        <p:cNvPr id="1" name=""/>
        <p:cNvGrpSpPr/>
        <p:nvPr/>
      </p:nvGrpSpPr>
      <p:grpSpPr>
        <a:xfrm>
          <a:off x="0" y="0"/>
          <a:ext cx="0" cy="0"/>
          <a:chOff x="0" y="0"/>
          <a:chExt cx="0" cy="0"/>
        </a:xfrm>
      </p:grpSpPr>
      <p:sp>
        <p:nvSpPr>
          <p:cNvPr id="2" name="Text 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Concept, not built or tested · est. £700–1,400 · hand-carried; fixed mounting only with TfL approval</a:t>
            </a:r>
            <a:endParaRPr lang="en-US" sz="1200" dirty="0"/>
          </a:p>
        </p:txBody>
      </p:sp>
      <p:sp>
        <p:nvSpPr>
          <p:cNvPr id="3" name="Text 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A4A6B"/>
                </a:solidFill>
                <a:latin typeface="JetBrains Mono" pitchFamily="49" charset="0"/>
                <a:ea typeface="JetBrains Mono" pitchFamily="49" charset="-122"/>
                <a:cs typeface="JetBrains Mono" pitchFamily="49" charset="-120"/>
              </a:rPr>
              <a:t>16</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F4C95"/>
                </a:solidFill>
                <a:latin typeface="JetBrains Mono" pitchFamily="49" charset="0"/>
                <a:ea typeface="JetBrains Mono" pitchFamily="49" charset="-122"/>
                <a:cs typeface="JetBrains Mono" pitchFamily="49" charset="-120"/>
              </a:rPr>
              <a:t>15 · WHY BUILD IT</a:t>
            </a:r>
            <a:endParaRPr lang="en-US" sz="1200" dirty="0"/>
          </a:p>
        </p:txBody>
      </p:sp>
      <p:sp>
        <p:nvSpPr>
          <p:cNvPr id="5" name="Text 3"/>
          <p:cNvSpPr/>
          <p:nvPr>
            <p:ph type="title"/>
          </p:nvPr>
        </p:nvSpPr>
        <p:spPr>
          <a:xfrm>
            <a:off x="812800" y="12827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2E68"/>
                </a:solidFill>
                <a:latin typeface="Oswald" pitchFamily="34" charset="0"/>
                <a:ea typeface="Oswald" pitchFamily="34" charset="-122"/>
                <a:cs typeface="Oswald" pitchFamily="34" charset="-120"/>
              </a:rPr>
              <a:t>EACH PART TARGETS A LIMIT WE MEASURED</a:t>
            </a:r>
            <a:endParaRPr lang="en-US" sz="3600" dirty="0"/>
          </a:p>
        </p:txBody>
      </p:sp>
      <p:sp>
        <p:nvSpPr>
          <p:cNvPr id="6" name="Shape 4"/>
          <p:cNvSpPr/>
          <p:nvPr/>
        </p:nvSpPr>
        <p:spPr>
          <a:xfrm>
            <a:off x="812800" y="2044700"/>
            <a:ext cx="6959600" cy="0"/>
          </a:xfrm>
          <a:prstGeom prst="line">
            <a:avLst/>
          </a:prstGeom>
          <a:noFill/>
          <a:ln w="12700">
            <a:solidFill>
              <a:srgbClr val="141413">
                <a:alpha val="22000"/>
              </a:srgbClr>
            </a:solidFill>
            <a:prstDash val="solid"/>
          </a:ln>
        </p:spPr>
        <p:txBody>
          <a:bodyPr/>
          <a:p/>
        </p:txBody>
      </p:sp>
      <p:sp>
        <p:nvSpPr>
          <p:cNvPr id="7" name="Shape 5"/>
          <p:cNvSpPr/>
          <p:nvPr/>
        </p:nvSpPr>
        <p:spPr>
          <a:xfrm>
            <a:off x="819150" y="2038350"/>
            <a:ext cx="0" cy="3398639"/>
          </a:xfrm>
          <a:prstGeom prst="line">
            <a:avLst/>
          </a:prstGeom>
          <a:noFill/>
          <a:ln w="12700">
            <a:solidFill>
              <a:srgbClr val="141413">
                <a:alpha val="22000"/>
              </a:srgbClr>
            </a:solidFill>
            <a:prstDash val="solid"/>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27100" y="2139950"/>
          <a:ext cx="6743700" cy="3208139"/>
        </p:xfrm>
        <a:graphic>
          <a:graphicData uri="http://schemas.openxmlformats.org/drawingml/2006/table">
            <a:tbl>
              <a:tblPr/>
              <a:tblGrid>
                <a:gridCol w="1483614"/>
                <a:gridCol w="2427732"/>
                <a:gridCol w="2832354"/>
              </a:tblGrid>
              <a:tr h="359271">
                <a:tc>
                  <a:txBody>
                    <a:bodyPr/>
                    <a:lstStyle/>
                    <a:p>
                      <a:pPr indent="0" marL="0">
                        <a:lnSpc>
                          <a:spcPts val="1820"/>
                        </a:lnSpc>
                        <a:buNone/>
                      </a:pPr>
                      <a:r>
                        <a:rPr lang="en-US" sz="1300" b="1" dirty="0">
                          <a:solidFill>
                            <a:srgbClr val="0E2E68"/>
                          </a:solidFill>
                          <a:latin typeface="IBM Plex Sans" pitchFamily="34" charset="0"/>
                          <a:ea typeface="IBM Plex Sans" pitchFamily="34" charset="-122"/>
                          <a:cs typeface="IBM Plex Sans" pitchFamily="34" charset="-120"/>
                        </a:rPr>
                        <a:t>Signal</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0B7C3"/>
                      </a:solidFill>
                      <a:prstDash val="solid"/>
                      <a:round/>
                      <a:headEnd type="none" w="med" len="med"/>
                      <a:tailEnd type="none" w="med" len="med"/>
                    </a:lnR>
                    <a:lnT w="0" cap="flat" cmpd="sng" algn="ctr">
                      <a:noFill/>
                    </a:lnT>
                    <a:lnB w="12700" cap="flat" cmpd="sng" algn="ctr">
                      <a:solidFill>
                        <a:srgbClr val="B0B7C3"/>
                      </a:solidFill>
                      <a:prstDash val="solid"/>
                      <a:round/>
                      <a:headEnd type="none" w="med" len="med"/>
                      <a:tailEnd type="none" w="med" len="med"/>
                    </a:lnB>
                    <a:solidFill>
                      <a:srgbClr val="DCE5F4"/>
                    </a:solidFill>
                  </a:tcPr>
                </a:tc>
                <a:tc>
                  <a:txBody>
                    <a:bodyPr/>
                    <a:lstStyle/>
                    <a:p>
                      <a:pPr indent="0" marL="0">
                        <a:lnSpc>
                          <a:spcPts val="1820"/>
                        </a:lnSpc>
                        <a:buNone/>
                      </a:pPr>
                      <a:r>
                        <a:rPr lang="en-US" sz="1300" b="1" dirty="0">
                          <a:solidFill>
                            <a:srgbClr val="0E2E68"/>
                          </a:solidFill>
                          <a:latin typeface="IBM Plex Sans" pitchFamily="34" charset="0"/>
                          <a:ea typeface="IBM Plex Sans" pitchFamily="34" charset="-122"/>
                          <a:cs typeface="IBM Plex Sans" pitchFamily="34" charset="-120"/>
                        </a:rPr>
                        <a:t>Phone today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7C3"/>
                      </a:solidFill>
                      <a:prstDash val="solid"/>
                      <a:round/>
                      <a:headEnd type="none" w="med" len="med"/>
                      <a:tailEnd type="none" w="med" len="med"/>
                    </a:lnL>
                    <a:lnR w="12700" cap="flat" cmpd="sng" algn="ctr">
                      <a:solidFill>
                        <a:srgbClr val="B0B7C3"/>
                      </a:solidFill>
                      <a:prstDash val="solid"/>
                      <a:round/>
                      <a:headEnd type="none" w="med" len="med"/>
                      <a:tailEnd type="none" w="med" len="med"/>
                    </a:lnR>
                    <a:lnT w="0" cap="flat" cmpd="sng" algn="ctr">
                      <a:noFill/>
                    </a:lnT>
                    <a:lnB w="12700" cap="flat" cmpd="sng" algn="ctr">
                      <a:solidFill>
                        <a:srgbClr val="B0B7C3"/>
                      </a:solidFill>
                      <a:prstDash val="solid"/>
                      <a:round/>
                      <a:headEnd type="none" w="med" len="med"/>
                      <a:tailEnd type="none" w="med" len="med"/>
                    </a:lnB>
                    <a:solidFill>
                      <a:srgbClr val="DCE5F4"/>
                    </a:solidFill>
                  </a:tcPr>
                </a:tc>
                <a:tc>
                  <a:txBody>
                    <a:bodyPr/>
                    <a:lstStyle/>
                    <a:p>
                      <a:pPr indent="0" marL="0">
                        <a:lnSpc>
                          <a:spcPts val="1820"/>
                        </a:lnSpc>
                        <a:buNone/>
                      </a:pPr>
                      <a:r>
                        <a:rPr lang="en-US" sz="1300" b="1" dirty="0">
                          <a:solidFill>
                            <a:srgbClr val="0E2E68"/>
                          </a:solidFill>
                          <a:latin typeface="IBM Plex Sans" pitchFamily="34" charset="0"/>
                          <a:ea typeface="IBM Plex Sans" pitchFamily="34" charset="-122"/>
                          <a:cs typeface="IBM Plex Sans" pitchFamily="34" charset="-120"/>
                        </a:rPr>
                        <a:t>Research Box v2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0B7C3"/>
                      </a:solidFill>
                      <a:prstDash val="solid"/>
                      <a:round/>
                      <a:headEnd type="none" w="med" len="med"/>
                      <a:tailEnd type="none" w="med" len="med"/>
                    </a:lnL>
                    <a:lnR w="12700" cap="flat" cmpd="sng" algn="ctr">
                      <a:solidFill>
                        <a:srgbClr val="B0B7C3"/>
                      </a:solidFill>
                      <a:prstDash val="solid"/>
                      <a:round/>
                      <a:headEnd type="none" w="med" len="med"/>
                      <a:tailEnd type="none" w="med" len="med"/>
                    </a:lnR>
                    <a:lnT w="0" cap="flat" cmpd="sng" algn="ctr">
                      <a:noFill/>
                    </a:lnT>
                    <a:lnB w="12700" cap="flat" cmpd="sng" algn="ctr">
                      <a:solidFill>
                        <a:srgbClr val="B0B7C3"/>
                      </a:solidFill>
                      <a:prstDash val="solid"/>
                      <a:round/>
                      <a:headEnd type="none" w="med" len="med"/>
                      <a:tailEnd type="none" w="med" len="med"/>
                    </a:lnB>
                    <a:solidFill>
                      <a:srgbClr val="DCE5F4"/>
                    </a:solidFill>
                  </a:tcPr>
                </a:tc>
              </a:tr>
              <a:tr h="590352">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Timebase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EC2C8"/>
                      </a:solidFill>
                      <a:prstDash val="solid"/>
                      <a:round/>
                      <a:headEnd type="none" w="med" len="med"/>
                      <a:tailEnd type="none" w="med" len="med"/>
                    </a:lnR>
                    <a:lnT w="12700" cap="flat" cmpd="sng" algn="ctr">
                      <a:solidFill>
                        <a:srgbClr val="B0B7C3"/>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Two apps, synced by a knock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0B7C3"/>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GNSS PPS + RTC, one hardware clock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0B7C3"/>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r>
              <a:tr h="590352">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Acoustic</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Voice Memos limiter, relative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2 × I²S MEMS mics, calibratable dB(A)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r>
              <a:tr h="590352">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Magnetic</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One sensor beside the battery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3 × RM3100 array on a boom (to 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r>
              <a:tr h="359271">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Speed</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Inferred from position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Radar Doppler (to test) + sleeper frequency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r>
              <a:tr h="359271">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Inertial</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Phone IMU, ~99 Hz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ADIS16470-class IMU, isolated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r>
              <a:tr h="359271">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Pressure</a:t>
                      </a:r>
                      <a:endParaRPr lang="en-US" sz="1300" dirty="0">
                        <a:latin typeface="IBM Plex Sans" charset="0"/>
                        <a:ea typeface="IBM Plex Sans" charset="0"/>
                        <a:cs typeface="IBM Plex Sans" charset="0"/>
                      </a:endParaRPr>
                    </a:p>
                  </a:txBody>
                  <a:tcPr marL="57785" marR="57785" marT="57785" marB="57785" anchor="t">
                    <a:lnL w="0" cap="flat" cmpd="sng" algn="ctr">
                      <a:noFill/>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Phone barometer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c>
                  <a:txBody>
                    <a:bodyPr/>
                    <a:lstStyle/>
                    <a:p>
                      <a:pPr indent="0" marL="0">
                        <a:lnSpc>
                          <a:spcPts val="1820"/>
                        </a:lnSpc>
                        <a:buNone/>
                      </a:pPr>
                      <a:r>
                        <a:rPr lang="en-US" sz="1300" dirty="0">
                          <a:solidFill>
                            <a:srgbClr val="0E2E68"/>
                          </a:solidFill>
                          <a:latin typeface="IBM Plex Sans" pitchFamily="34" charset="0"/>
                          <a:ea typeface="IBM Plex Sans" pitchFamily="34" charset="-122"/>
                          <a:cs typeface="IBM Plex Sans" pitchFamily="34" charset="-120"/>
                        </a:rPr>
                        <a:t>BMP585-class, tens of Hz, vented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2C8"/>
                      </a:solidFill>
                      <a:prstDash val="solid"/>
                      <a:round/>
                      <a:headEnd type="none" w="med" len="med"/>
                      <a:tailEnd type="none" w="med" len="med"/>
                    </a:lnL>
                    <a:lnR w="12700" cap="flat" cmpd="sng" algn="ctr">
                      <a:solidFill>
                        <a:srgbClr val="BEC2C8"/>
                      </a:solidFill>
                      <a:prstDash val="solid"/>
                      <a:round/>
                      <a:headEnd type="none" w="med" len="med"/>
                      <a:tailEnd type="none" w="med" len="med"/>
                    </a:lnR>
                    <a:lnT w="12700" cap="flat" cmpd="sng" algn="ctr">
                      <a:solidFill>
                        <a:srgbClr val="BEC2C8"/>
                      </a:solidFill>
                      <a:prstDash val="solid"/>
                      <a:round/>
                      <a:headEnd type="none" w="med" len="med"/>
                      <a:tailEnd type="none" w="med" len="med"/>
                    </a:lnT>
                    <a:lnB w="12700" cap="flat" cmpd="sng" algn="ctr">
                      <a:solidFill>
                        <a:srgbClr val="BEC2C8"/>
                      </a:solidFill>
                      <a:prstDash val="solid"/>
                      <a:round/>
                      <a:headEnd type="none" w="med" len="med"/>
                      <a:tailEnd type="none" w="med" len="med"/>
                    </a:lnB>
                  </a:tcPr>
                </a:tc>
              </a:tr>
            </a:tbl>
          </a:graphicData>
        </a:graphic>
      </p:graphicFrame>
      <p:pic>
        <p:nvPicPr>
          <p:cNvPr id="9" name="Image 0" descr="Assembled view of the Research Box v2 concept on a dark background, with three magnetometer pods along the boom">    </p:cNvPr>
          <p:cNvPicPr>
            <a:picLocks noChangeAspect="1"/>
          </p:cNvPicPr>
          <p:nvPr/>
        </p:nvPicPr>
        <p:blipFill>
          <a:blip r:embed="rId1"/>
          <a:srcRect l="17867" r="21860" t="5132" b="10912"/>
          <a:stretch/>
        </p:blipFill>
        <p:spPr>
          <a:xfrm>
            <a:off x="8074152" y="2139696"/>
            <a:ext cx="3300983" cy="2745766"/>
          </a:xfrm>
          <a:prstGeom prst="roundRect">
            <a:avLst>
              <a:gd name="adj" fmla="val 1524"/>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B33D"/>
                </a:solidFill>
                <a:latin typeface="JetBrains Mono" pitchFamily="49" charset="0"/>
                <a:ea typeface="JetBrains Mono" pitchFamily="49" charset="-122"/>
                <a:cs typeface="JetBrains Mono" pitchFamily="49" charset="-120"/>
              </a:rPr>
              <a:t>16 · STATUS AND NEXT STEPS</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9F1FF"/>
                </a:solidFill>
                <a:latin typeface="Oswald" pitchFamily="34" charset="0"/>
                <a:ea typeface="Oswald" pitchFamily="34" charset="-122"/>
                <a:cs typeface="Oswald" pitchFamily="34" charset="-120"/>
              </a:rPr>
              <a:t>BUILT IN A WEEKEND, HONEST ABOUT THE REST</a:t>
            </a:r>
            <a:endParaRPr lang="en-US" sz="3600" dirty="0"/>
          </a:p>
        </p:txBody>
      </p:sp>
      <p:sp>
        <p:nvSpPr>
          <p:cNvPr id="4" name="Shape 2"/>
          <p:cNvSpPr/>
          <p:nvPr/>
        </p:nvSpPr>
        <p:spPr>
          <a:xfrm>
            <a:off x="812800" y="2036961"/>
            <a:ext cx="3386634" cy="3805039"/>
          </a:xfrm>
          <a:prstGeom prst="rect">
            <a:avLst/>
          </a:prstGeom>
          <a:solidFill>
            <a:srgbClr val="173F80"/>
          </a:solidFill>
          <a:ln/>
        </p:spPr>
        <p:txBody>
          <a:bodyPr/>
          <a:p/>
        </p:txBody>
      </p:sp>
      <p:sp>
        <p:nvSpPr>
          <p:cNvPr id="5" name="Shape 3"/>
          <p:cNvSpPr/>
          <p:nvPr/>
        </p:nvSpPr>
        <p:spPr>
          <a:xfrm>
            <a:off x="812800" y="2056011"/>
            <a:ext cx="3386634" cy="0"/>
          </a:xfrm>
          <a:prstGeom prst="line">
            <a:avLst/>
          </a:prstGeom>
          <a:noFill/>
          <a:ln w="38100">
            <a:solidFill>
              <a:srgbClr val="F2B33D"/>
            </a:solidFill>
            <a:prstDash val="solid"/>
          </a:ln>
        </p:spPr>
        <p:txBody>
          <a:bodyPr/>
          <a:p/>
        </p:txBody>
      </p:sp>
      <p:sp>
        <p:nvSpPr>
          <p:cNvPr id="6" name="Text 4"/>
          <p:cNvSpPr/>
          <p:nvPr/>
        </p:nvSpPr>
        <p:spPr>
          <a:xfrm>
            <a:off x="1066800" y="2329061"/>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B33D"/>
                </a:solidFill>
                <a:latin typeface="Oswald" pitchFamily="34" charset="0"/>
                <a:ea typeface="Oswald" pitchFamily="34" charset="-122"/>
                <a:cs typeface="Oswald" pitchFamily="34" charset="-120"/>
              </a:rPr>
              <a:t>WORKING</a:t>
            </a:r>
            <a:endParaRPr lang="en-US" sz="2200" dirty="0"/>
          </a:p>
        </p:txBody>
      </p:sp>
      <p:sp>
        <p:nvSpPr>
          <p:cNvPr id="7" name="Text 5"/>
          <p:cNvSpPr/>
          <p:nvPr/>
        </p:nvSpPr>
        <p:spPr>
          <a:xfrm>
            <a:off x="1152144" y="2791321"/>
            <a:ext cx="2872029" cy="1461294"/>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GPS-free tracker + web app</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Messy-input QC</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All 6 Atlas features, incl. streams</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Analyst harness + hash-chained log</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Investigator, Ask Argon, verifier, approval</a:t>
            </a:r>
            <a:endParaRPr lang="en-US" sz="1300" dirty="0"/>
          </a:p>
        </p:txBody>
      </p:sp>
      <p:sp>
        <p:nvSpPr>
          <p:cNvPr id="8" name="Shape 6"/>
          <p:cNvSpPr/>
          <p:nvPr/>
        </p:nvSpPr>
        <p:spPr>
          <a:xfrm>
            <a:off x="4402634" y="2036961"/>
            <a:ext cx="3386634" cy="3805039"/>
          </a:xfrm>
          <a:prstGeom prst="rect">
            <a:avLst/>
          </a:prstGeom>
          <a:solidFill>
            <a:srgbClr val="173F80"/>
          </a:solidFill>
          <a:ln/>
        </p:spPr>
        <p:txBody>
          <a:bodyPr/>
          <a:p/>
        </p:txBody>
      </p:sp>
      <p:sp>
        <p:nvSpPr>
          <p:cNvPr id="9" name="Shape 7"/>
          <p:cNvSpPr/>
          <p:nvPr/>
        </p:nvSpPr>
        <p:spPr>
          <a:xfrm>
            <a:off x="4402634" y="2056011"/>
            <a:ext cx="3386634" cy="0"/>
          </a:xfrm>
          <a:prstGeom prst="line">
            <a:avLst/>
          </a:prstGeom>
          <a:noFill/>
          <a:ln w="38100">
            <a:solidFill>
              <a:srgbClr val="A9C2EC"/>
            </a:solidFill>
            <a:prstDash val="solid"/>
          </a:ln>
        </p:spPr>
        <p:txBody>
          <a:bodyPr/>
          <a:p/>
        </p:txBody>
      </p:sp>
      <p:sp>
        <p:nvSpPr>
          <p:cNvPr id="10" name="Text 8"/>
          <p:cNvSpPr/>
          <p:nvPr/>
        </p:nvSpPr>
        <p:spPr>
          <a:xfrm>
            <a:off x="4656634" y="2329061"/>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9F1FF"/>
                </a:solidFill>
                <a:latin typeface="Oswald" pitchFamily="34" charset="0"/>
                <a:ea typeface="Oswald" pitchFamily="34" charset="-122"/>
                <a:cs typeface="Oswald" pitchFamily="34" charset="-120"/>
              </a:rPr>
              <a:t>IN PROGRESS</a:t>
            </a:r>
            <a:endParaRPr lang="en-US" sz="2200" dirty="0"/>
          </a:p>
        </p:txBody>
      </p:sp>
      <p:sp>
        <p:nvSpPr>
          <p:cNvPr id="11" name="Text 9"/>
          <p:cNvSpPr/>
          <p:nvPr/>
        </p:nvSpPr>
        <p:spPr>
          <a:xfrm>
            <a:off x="4741978" y="2791321"/>
            <a:ext cx="2872029" cy="1221978"/>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Signed evidence pack (live in demo)</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Live phone sensors via phyphox</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Human check of roughness readings</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3-minute demo video</a:t>
            </a:r>
            <a:endParaRPr lang="en-US" sz="1300" dirty="0"/>
          </a:p>
        </p:txBody>
      </p:sp>
      <p:sp>
        <p:nvSpPr>
          <p:cNvPr id="12" name="Shape 10"/>
          <p:cNvSpPr/>
          <p:nvPr/>
        </p:nvSpPr>
        <p:spPr>
          <a:xfrm>
            <a:off x="7992467" y="2036961"/>
            <a:ext cx="3386634" cy="3805039"/>
          </a:xfrm>
          <a:prstGeom prst="rect">
            <a:avLst/>
          </a:prstGeom>
          <a:solidFill>
            <a:srgbClr val="173F80"/>
          </a:solidFill>
          <a:ln/>
        </p:spPr>
        <p:txBody>
          <a:bodyPr/>
          <a:p/>
        </p:txBody>
      </p:sp>
      <p:sp>
        <p:nvSpPr>
          <p:cNvPr id="13" name="Shape 11"/>
          <p:cNvSpPr/>
          <p:nvPr/>
        </p:nvSpPr>
        <p:spPr>
          <a:xfrm>
            <a:off x="7992467" y="2056011"/>
            <a:ext cx="3386634" cy="0"/>
          </a:xfrm>
          <a:prstGeom prst="line">
            <a:avLst/>
          </a:prstGeom>
          <a:noFill/>
          <a:ln w="38100">
            <a:solidFill>
              <a:srgbClr val="5E80BD"/>
            </a:solidFill>
            <a:prstDash val="solid"/>
          </a:ln>
        </p:spPr>
        <p:txBody>
          <a:bodyPr/>
          <a:p/>
        </p:txBody>
      </p:sp>
      <p:sp>
        <p:nvSpPr>
          <p:cNvPr id="14" name="Text 12"/>
          <p:cNvSpPr/>
          <p:nvPr/>
        </p:nvSpPr>
        <p:spPr>
          <a:xfrm>
            <a:off x="8246467" y="2329061"/>
            <a:ext cx="296499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9F1FF"/>
                </a:solidFill>
                <a:latin typeface="Oswald" pitchFamily="34" charset="0"/>
                <a:ea typeface="Oswald" pitchFamily="34" charset="-122"/>
                <a:cs typeface="Oswald" pitchFamily="34" charset="-120"/>
              </a:rPr>
              <a:t>NEXT</a:t>
            </a:r>
            <a:endParaRPr lang="en-US" sz="2200" dirty="0"/>
          </a:p>
        </p:txBody>
      </p:sp>
      <p:sp>
        <p:nvSpPr>
          <p:cNvPr id="15" name="Text 13"/>
          <p:cNvSpPr/>
          <p:nvPr/>
        </p:nvSpPr>
        <p:spPr>
          <a:xfrm>
            <a:off x="8331811" y="2791321"/>
            <a:ext cx="2872029" cy="1700609"/>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More rides, more lines</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A calibrated reference meter</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Our noise vs TfL roughness plots</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Station labels via Gemini Transcribe</a:t>
            </a:r>
            <a:endParaRPr lang="en-US" sz="1300" dirty="0"/>
          </a:p>
          <a:p>
            <a:pPr algn="l" marL="168656" indent="-168656">
              <a:lnSpc>
                <a:spcPts val="1885"/>
              </a:lnSpc>
              <a:buSzPct val="100000"/>
              <a:buChar char="•"/>
            </a:pPr>
            <a:r>
              <a:rPr lang="en-US" sz="1300" dirty="0">
                <a:solidFill>
                  <a:srgbClr val="E9F1FF"/>
                </a:solidFill>
                <a:latin typeface="IBM Plex Sans" pitchFamily="34" charset="0"/>
                <a:ea typeface="IBM Plex Sans" pitchFamily="34" charset="-122"/>
                <a:cs typeface="IBM Plex Sans" pitchFamily="34" charset="-120"/>
              </a:rPr>
              <a:t>Research Box v2 prototype</a:t>
            </a:r>
            <a:endParaRPr lang="en-US" sz="1300" dirty="0"/>
          </a:p>
        </p:txBody>
      </p:sp>
      <p:sp>
        <p:nvSpPr>
          <p:cNvPr id="16" name="Text 14"/>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Every commit dated 23–25 Oct 2026 · github.com/coderback</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C2EC"/>
                </a:solidFill>
                <a:latin typeface="JetBrains Mono" pitchFamily="49" charset="0"/>
                <a:ea typeface="JetBrains Mono" pitchFamily="49" charset="-122"/>
                <a:cs typeface="JetBrains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2B33D"/>
        </a:solidFill>
      </p:bgPr>
    </p:bg>
    <p:spTree>
      <p:nvGrpSpPr>
        <p:cNvPr id="1" name=""/>
        <p:cNvGrpSpPr/>
        <p:nvPr/>
      </p:nvGrpSpPr>
      <p:grpSpPr>
        <a:xfrm>
          <a:off x="0" y="0"/>
          <a:ext cx="0" cy="0"/>
          <a:chOff x="0" y="0"/>
          <a:chExt cx="0" cy="0"/>
        </a:xfrm>
      </p:grpSpPr>
      <p:sp>
        <p:nvSpPr>
          <p:cNvPr id="2" name="Text 0"/>
          <p:cNvSpPr/>
          <p:nvPr>
            <p:ph type="title"/>
          </p:nvPr>
        </p:nvSpPr>
        <p:spPr>
          <a:xfrm>
            <a:off x="812800" y="993180"/>
            <a:ext cx="10883392" cy="40259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0E2E68"/>
                </a:solidFill>
                <a:latin typeface="Oswald" pitchFamily="34" charset="0"/>
                <a:ea typeface="Oswald" pitchFamily="34" charset="-122"/>
                <a:cs typeface="Oswald" pitchFamily="34" charset="-120"/>
              </a:rPr>
              <a:t>ORDINARY RIDES.</a:t>
            </a:r>
            <a:endParaRPr lang="en-US" sz="6000" dirty="0"/>
          </a:p>
          <a:p>
            <a:pPr algn="l" indent="0" marL="0">
              <a:lnSpc>
                <a:spcPts val="6300"/>
              </a:lnSpc>
              <a:buNone/>
            </a:pPr>
            <a:r>
              <a:rPr lang="en-US" sz="6000" b="1" i="0" dirty="0">
                <a:solidFill>
                  <a:srgbClr val="0E2E68"/>
                </a:solidFill>
                <a:latin typeface="Oswald" pitchFamily="34" charset="0"/>
                <a:ea typeface="Oswald" pitchFamily="34" charset="-122"/>
                <a:cs typeface="Oswald" pitchFamily="34" charset="-120"/>
              </a:rPr>
              <a:t>NO GPS.</a:t>
            </a:r>
            <a:endParaRPr lang="en-US" sz="6000" dirty="0"/>
          </a:p>
          <a:p>
            <a:pPr algn="l" indent="0" marL="0">
              <a:lnSpc>
                <a:spcPts val="6300"/>
              </a:lnSpc>
              <a:buNone/>
            </a:pPr>
            <a:r>
              <a:rPr lang="en-US" sz="6000" b="1" i="0" dirty="0">
                <a:solidFill>
                  <a:srgbClr val="0E2E68"/>
                </a:solidFill>
                <a:latin typeface="Oswald" pitchFamily="34" charset="0"/>
                <a:ea typeface="Oswald" pitchFamily="34" charset="-122"/>
                <a:cs typeface="Oswald" pitchFamily="34" charset="-120"/>
              </a:rPr>
              <a:t>TFL’S OWN RECORDS.</a:t>
            </a:r>
            <a:endParaRPr lang="en-US" sz="6000" dirty="0"/>
          </a:p>
          <a:p>
            <a:pPr algn="l" indent="0" marL="0">
              <a:lnSpc>
                <a:spcPts val="6300"/>
              </a:lnSpc>
              <a:buNone/>
            </a:pPr>
            <a:r>
              <a:rPr lang="en-US" sz="6000" b="1" i="0" dirty="0">
                <a:solidFill>
                  <a:srgbClr val="0E2E68"/>
                </a:solidFill>
                <a:latin typeface="Oswald" pitchFamily="34" charset="0"/>
                <a:ea typeface="Oswald" pitchFamily="34" charset="-122"/>
                <a:cs typeface="Oswald" pitchFamily="34" charset="-120"/>
              </a:rPr>
              <a:t>EVERY CLAIM CHECKED.</a:t>
            </a:r>
            <a:endParaRPr lang="en-US" sz="6000" dirty="0"/>
          </a:p>
          <a:p>
            <a:pPr algn="l" indent="0" marL="0">
              <a:lnSpc>
                <a:spcPts val="6300"/>
              </a:lnSpc>
              <a:buNone/>
            </a:pPr>
            <a:r>
              <a:rPr lang="en-US" sz="6000" b="1" i="0" dirty="0">
                <a:solidFill>
                  <a:srgbClr val="0E2E68"/>
                </a:solidFill>
                <a:latin typeface="Oswald" pitchFamily="34" charset="0"/>
                <a:ea typeface="Oswald" pitchFamily="34" charset="-122"/>
                <a:cs typeface="Oswald" pitchFamily="34" charset="-120"/>
              </a:rPr>
              <a:t>A HUMAN SIGNS.</a:t>
            </a:r>
            <a:endParaRPr lang="en-US" sz="6000" dirty="0"/>
          </a:p>
        </p:txBody>
      </p:sp>
      <p:sp>
        <p:nvSpPr>
          <p:cNvPr id="3" name="Text 1"/>
          <p:cNvSpPr/>
          <p:nvPr/>
        </p:nvSpPr>
        <p:spPr>
          <a:xfrm>
            <a:off x="812800" y="529848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0E2E68"/>
                </a:solidFill>
                <a:latin typeface="IBM Plex Sans" pitchFamily="34" charset="0"/>
                <a:ea typeface="IBM Plex Sans" pitchFamily="34" charset="-122"/>
                <a:cs typeface="IBM Plex Sans" pitchFamily="34" charset="-120"/>
              </a:rPr>
              <a:t>Raw audio never leaves the laptop.</a:t>
            </a:r>
            <a:endParaRPr lang="en-US" sz="2200" dirty="0"/>
          </a:p>
        </p:txBody>
      </p:sp>
      <p:sp>
        <p:nvSpPr>
          <p:cNvPr id="4" name="Text 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2E68"/>
                </a:solidFill>
                <a:latin typeface="JetBrains Mono" pitchFamily="49" charset="0"/>
                <a:ea typeface="JetBrains Mono" pitchFamily="49" charset="-122"/>
                <a:cs typeface="JetBrains Mono" pitchFamily="49" charset="-120"/>
              </a:rPr>
              <a:t>Tubesense · Tobi Ojebiyi · github.com/coderback</a:t>
            </a:r>
            <a:endParaRPr lang="en-US" sz="1200" dirty="0"/>
          </a:p>
        </p:txBody>
      </p:sp>
      <p:sp>
        <p:nvSpPr>
          <p:cNvPr id="5" name="Text 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E2E68"/>
                </a:solidFill>
                <a:latin typeface="JetBrains Mono" pitchFamily="49" charset="0"/>
                <a:ea typeface="JetBrains Mono" pitchFamily="49" charset="-122"/>
                <a:cs typeface="JetBrains Mono" pitchFamily="49" charset="-120"/>
              </a:rPr>
              <a:t>18</a:t>
            </a:r>
            <a:endParaRPr lang="en-US" sz="1200" dirty="0"/>
          </a:p>
        </p:txBody>
      </p:sp>
    </p:spTree>
  </p:cSld>
  <p:clrMapOvr>
    <a:masterClrMapping/>
  </p:clrMapOvr>
</p:sld>
</file>

<file path=ppt/theme/theme1.xml><?xml version="1.0" encoding="utf-8"?>
<a:theme xmlns:a="http://schemas.openxmlformats.org/drawingml/2006/main" name="Tubesense — Encode London 2026 (draft)">
  <a:themeElements>
    <a:clrScheme name="Tubesense — Encode London 2026 (draft)">
      <a:dk1>
        <a:srgbClr val="0E2E68"/>
      </a:dk1>
      <a:lt1>
        <a:srgbClr val="E9F1FF"/>
      </a:lt1>
      <a:dk2>
        <a:srgbClr val="244277"/>
      </a:dk2>
      <a:lt2>
        <a:srgbClr val="B2C0D9"/>
      </a:lt2>
      <a:accent1>
        <a:srgbClr val="A9C2EC"/>
      </a:accent1>
      <a:accent2>
        <a:srgbClr val="3A4A6B"/>
      </a:accent2>
      <a:accent3>
        <a:srgbClr val="F2B33D"/>
      </a:accent3>
      <a:accent4>
        <a:srgbClr val="1F4C95"/>
      </a:accent4>
      <a:accent5>
        <a:srgbClr val="A9B8D2"/>
      </a:accent5>
      <a:accent6>
        <a:srgbClr val="9AA0A6"/>
      </a:accent6>
      <a:hlink>
        <a:srgbClr val="0563C1"/>
      </a:hlink>
      <a:folHlink>
        <a:srgbClr val="954F72"/>
      </a:folHlink>
    </a:clrScheme>
    <a:fontScheme name="Tubesense — Encode London 2026 (draft)">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Tubesense — Encode London 2026 (draft)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2026-10-25T03:07:58Z</dcterms:created>
  <dcterms:modified xsi:type="dcterms:W3CDTF">2026-10-25T03:07:58Z</dcterms:modified>
</cp:coreProperties>
</file>